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Masters/slideMaster2.xml" ContentType="application/vnd.openxmlformats-officedocument.presentationml.slideMaster+xml"/>
  <ns0:Override PartName="/ppt/slides/slide2.xml" ContentType="application/vnd.openxmlformats-officedocument.presentationml.slide+xml"/>
  <ns0:Override PartName="/ppt/slideMasters/slideMaster3.xml" ContentType="application/vnd.openxmlformats-officedocument.presentationml.slideMaster+xml"/>
  <ns0:Override PartName="/ppt/slides/slide3.xml" ContentType="application/vnd.openxmlformats-officedocument.presentationml.slide+xml"/>
  <ns0:Override PartName="/ppt/slideMasters/slideMaster4.xml" ContentType="application/vnd.openxmlformats-officedocument.presentationml.slideMaster+xml"/>
  <ns0:Override PartName="/ppt/slides/slide4.xml" ContentType="application/vnd.openxmlformats-officedocument.presentationml.slide+xml"/>
  <ns0:Override PartName="/ppt/slideMasters/slideMaster5.xml" ContentType="application/vnd.openxmlformats-officedocument.presentationml.slideMaster+xml"/>
  <ns0:Override PartName="/ppt/slides/slide5.xml" ContentType="application/vnd.openxmlformats-officedocument.presentationml.slide+xml"/>
  <ns0:Override PartName="/ppt/slideMasters/slideMaster6.xml" ContentType="application/vnd.openxmlformats-officedocument.presentationml.slideMaster+xml"/>
  <ns0:Override PartName="/ppt/slides/slide6.xml" ContentType="application/vnd.openxmlformats-officedocument.presentationml.slide+xml"/>
  <ns0:Override PartName="/ppt/slideMasters/slideMaster7.xml" ContentType="application/vnd.openxmlformats-officedocument.presentationml.slideMaster+xml"/>
  <ns0:Override PartName="/ppt/slides/slide7.xml" ContentType="application/vnd.openxmlformats-officedocument.presentationml.slide+xml"/>
  <ns0:Override PartName="/ppt/slideMasters/slideMaster8.xml" ContentType="application/vnd.openxmlformats-officedocument.presentationml.slideMaster+xml"/>
  <ns0:Override PartName="/ppt/slides/slide8.xml" ContentType="application/vnd.openxmlformats-officedocument.presentationml.slide+xml"/>
  <ns0:Override PartName="/ppt/slideMasters/slideMaster9.xml" ContentType="application/vnd.openxmlformats-officedocument.presentationml.slideMaster+xml"/>
  <ns0:Override PartName="/ppt/slides/slide9.xml" ContentType="application/vnd.openxmlformats-officedocument.presentationml.slide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'1.0' encoding='utf-8'?>
<ns0:Relationships xmlns:ns0="http://schemas.openxmlformats.org/package/2006/relationships">
		<ns0:Relationship Id="rId1" Type="http://schemas.openxmlformats.org/officeDocument/2006/relationships/extended-properties" Target="docProps/app.xml" />
		<ns0:Relationship Id="rId2" Type="http://schemas.openxmlformats.org/package/2006/relationships/metadata/core-properties" Target="docProps/core.xml" />
		<ns0:Relationship Id="rId3" Type="http://schemas.openxmlformats.org/officeDocument/2006/relationships/officeDocument" Target="ppt/presentation.xml" />
		</ns0: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slide" Target="slides/slide1.xml" /><ns0:Relationship Id="rId3" Type="http://schemas.openxmlformats.org/officeDocument/2006/relationships/slide" Target="slides/slide2.xml" /><ns0:Relationship Id="rId4" Type="http://schemas.openxmlformats.org/officeDocument/2006/relationships/slide" Target="slides/slide3.xml" /><ns0:Relationship Id="rId5" Type="http://schemas.openxmlformats.org/officeDocument/2006/relationships/slide" Target="slides/slide4.xml" /><ns0:Relationship Id="rId6" Type="http://schemas.openxmlformats.org/officeDocument/2006/relationships/slide" Target="slides/slide5.xml" /><ns0:Relationship Id="rId7" Type="http://schemas.openxmlformats.org/officeDocument/2006/relationships/slide" Target="slides/slide6.xml" /><ns0:Relationship Id="rId8" Type="http://schemas.openxmlformats.org/officeDocument/2006/relationships/slide" Target="slides/slide7.xml" /><ns0:Relationship Id="rId9" Type="http://schemas.openxmlformats.org/officeDocument/2006/relationships/slide" Target="slides/slide8.xml" /><ns0:Relationship Id="rId10" Type="http://schemas.openxmlformats.org/officeDocument/2006/relationships/slide" Target="slides/slide9.xml" /><ns0:Relationship Id="rId12" Type="http://schemas.openxmlformats.org/officeDocument/2006/relationships/presProps" Target="presProps.xml" /><ns0:Relationship Id="rId13" Type="http://schemas.openxmlformats.org/officeDocument/2006/relationships/viewProps" Target="viewProps.xml" /><ns0:Relationship Id="rId14" Type="http://schemas.openxmlformats.org/officeDocument/2006/relationships/theme" Target="theme/theme1.xml" /><ns0:Relationship Id="rId15" Type="http://schemas.openxmlformats.org/officeDocument/2006/relationships/tableStyles" Target="tableStyles.xml" /></ns0:Relationships>
</file>

<file path=ppt/slideLayouts/_rels/slideLayout1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/ns0: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/ns0:Relationships>
</file>

<file path=ppt/slides/_rels/slide2.xml.rels><?xml version='1.0' encoding='utf-8'?>
<ns0:Relationships xmlns:ns0="http://schemas.openxmlformats.org/package/2006/relationships"><ns0:Relationship Id="rId1" Type="http://schemas.openxmlformats.org/officeDocument/2006/relationships/image" Target="../media/image-2-1.png" /><ns0:Relationship Id="rId2" Type="http://schemas.openxmlformats.org/officeDocument/2006/relationships/slideLayout" Target="../slideLayouts/slideLayout1.xml" /></ns0:Relationships>
</file>

<file path=ppt/slides/_rels/slide3.xml.rels><?xml version='1.0' encoding='utf-8'?>
<ns0:Relationships xmlns:ns0="http://schemas.openxmlformats.org/package/2006/relationships"><ns0:Relationship Id="rId1" Type="http://schemas.openxmlformats.org/officeDocument/2006/relationships/image" Target="../media/image-3-1.png" /><ns0:Relationship Id="rId2" Type="http://schemas.openxmlformats.org/officeDocument/2006/relationships/slideLayout" Target="../slideLayouts/slideLayout1.xml" /></ns0:Relationships>
</file>

<file path=ppt/slides/_rels/slide4.xml.rels><?xml version='1.0' encoding='utf-8'?>
<ns0:Relationships xmlns:ns0="http://schemas.openxmlformats.org/package/2006/relationships"><ns0:Relationship Id="rId1" Type="http://schemas.openxmlformats.org/officeDocument/2006/relationships/image" Target="../media/image-4-1.png" /><ns0:Relationship Id="rId2" Type="http://schemas.openxmlformats.org/officeDocument/2006/relationships/image" Target="../media/image-4-2.png" /><ns0:Relationship Id="rId3" Type="http://schemas.openxmlformats.org/officeDocument/2006/relationships/slideLayout" Target="../slideLayouts/slideLayout1.xml" /><ns0:Relationship Id="rIdPowerBiReport" Type="http://schemas.openxmlformats.org/officeDocument/2006/relationships/hyperlink" Target="https://app.powerbi.com/view?r=eyJrIjoiNWEwOTJjNjAtNDBlNS00YTZiLTkyZTYtNWQ5Y2VkNTM1NmQxIiwidCI6ImEyMWJkZWI4LTI2YjQtNDNlMy1iNDcwLWQ5NDg3NGYzODNlYiJ9" TargetMode="External" /></ns0:Relationships>
</file>

<file path=ppt/slides/_rels/slide5.xml.rels><?xml version='1.0' encoding='utf-8'?>
<ns0:Relationships xmlns:ns0="http://schemas.openxmlformats.org/package/2006/relationships"><ns0:Relationship Id="rId1" Type="http://schemas.openxmlformats.org/officeDocument/2006/relationships/image" Target="../media/image-5-1.png" /><ns0:Relationship Id="rId2" Type="http://schemas.openxmlformats.org/officeDocument/2006/relationships/slideLayout" Target="../slideLayouts/slideLayout1.xml" /></ns0: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image" Target="../media/image-6-1.png" /><ns0:Relationship Id="rId2" Type="http://schemas.openxmlformats.org/officeDocument/2006/relationships/image" Target="../media/image-6-2.png" /><ns0:Relationship Id="rId3" Type="http://schemas.openxmlformats.org/officeDocument/2006/relationships/slideLayout" Target="../slideLayouts/slideLayout1.xml" /></ns0:Relationships>
</file>

<file path=ppt/slides/_rels/slide7.xml.rels><?xml version='1.0' encoding='utf-8'?>
<ns0:Relationships xmlns:ns0="http://schemas.openxmlformats.org/package/2006/relationships"><ns0:Relationship Id="rId1" Type="http://schemas.openxmlformats.org/officeDocument/2006/relationships/image" Target="../media/image-7-1.png" /><ns0:Relationship Id="rId2" Type="http://schemas.openxmlformats.org/officeDocument/2006/relationships/slideLayout" Target="../slideLayouts/slideLayout1.xml" /></ns0:Relationships>
</file>

<file path=ppt/slides/_rels/slide8.xml.rels><?xml version='1.0' encoding='utf-8'?>
<ns0:Relationships xmlns:ns0="http://schemas.openxmlformats.org/package/2006/relationships"><ns0:Relationship Id="rId1" Type="http://schemas.openxmlformats.org/officeDocument/2006/relationships/image" Target="../media/image-8-1.png" /><ns0:Relationship Id="rId2" Type="http://schemas.openxmlformats.org/officeDocument/2006/relationships/slideLayout" Target="../slideLayouts/slideLayout1.xml" /></ns0:Relationships>
</file>

<file path=ppt/slides/_rels/slide9.xml.rels><?xml version='1.0' encoding='utf-8'?>
<ns0:Relationships xmlns:ns0="http://schemas.openxmlformats.org/package/2006/relationships"><ns0:Relationship Id="rId1" Type="http://schemas.openxmlformats.org/officeDocument/2006/relationships/image" Target="../media/image-9-1.png" /><ns0:Relationship Id="rId2" Type="http://schemas.openxmlformats.org/officeDocument/2006/relationships/slideLayout" Target="../slideLayouts/slideLayout1.xml" /></ns0: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B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750" y="857250"/>
            <a:ext cx="2743200" cy="1143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47750" y="4656832"/>
            <a:ext cx="8913066" cy="3558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485"/>
              </a:lnSpc>
              <a:buNone/>
            </a:pPr>
            <a:r>
              <a:rPr lang="en-US" sz="6600" b="1" spc="-6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Development: Technology Progress and Next Steps</a:t>
            </a:r>
            <a:endParaRPr lang="en-US" sz="6600" dirty="0"/>
          </a:p>
        </p:txBody>
      </p:sp>
      <p:sp>
        <p:nvSpPr>
          <p:cNvPr id="4" name="Text 1"/>
          <p:cNvSpPr/>
          <p:nvPr/>
        </p:nvSpPr>
        <p:spPr>
          <a:xfrm>
            <a:off x="1047750" y="8710613"/>
            <a:ext cx="9518809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Mihir Trivedi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047750" y="9196388"/>
            <a:ext cx="951880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Specialist, Chiefs of Ontario</a:t>
            </a:r>
            <a:endParaRPr lang="en-US" sz="2250" dirty="0"/>
          </a:p>
        </p:txBody>
      </p:sp>
      <p:sp>
        <p:nvSpPr>
          <p:cNvPr id="6" name="Text 3"/>
          <p:cNvSpPr/>
          <p:nvPr/>
        </p:nvSpPr>
        <p:spPr>
          <a:xfrm>
            <a:off x="10844213" y="5326410"/>
            <a:ext cx="65879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WORKSTREAMS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0844213" y="5816947"/>
            <a:ext cx="6396038" cy="285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10844213" y="6250335"/>
            <a:ext cx="37288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1369501" y="6150322"/>
            <a:ext cx="6046871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Nations Business Directory portal migration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11396663" y="7198072"/>
            <a:ext cx="2447702" cy="4143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11549062" y="7274272"/>
            <a:ext cx="22191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FOCUS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0844213" y="7955310"/>
            <a:ext cx="6396038" cy="19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10844213" y="8279160"/>
            <a:ext cx="37288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11369501" y="8241060"/>
            <a:ext cx="3838694" cy="4038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784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Grants &amp; Funding Tracker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10844213" y="8873505"/>
            <a:ext cx="6396038" cy="19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10844213" y="9197355"/>
            <a:ext cx="37288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11369501" y="9159255"/>
            <a:ext cx="6205463" cy="4038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784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business verification with Makwa7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715253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· FNBD MIGRATION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157288"/>
            <a:ext cx="7152531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041"/>
              </a:lnSpc>
              <a:buNone/>
            </a:pPr>
            <a:r>
              <a:rPr lang="en-US" sz="4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FNBD portal migration</a:t>
            </a:r>
            <a:endParaRPr lang="en-US" sz="4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11450" y="762000"/>
            <a:ext cx="1828800" cy="76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7750" y="2425229"/>
            <a:ext cx="15716250" cy="540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529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 now owns and operates the survey, data files and Power BI report.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1047750" y="3099569"/>
            <a:ext cx="1471612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39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migration is complete. Business and staff survey submissions now reach COO’s SimpleSurvey account. The report uses COO’s OneDrive files; adding recent responses to it remains manual.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1047750" y="4571628"/>
            <a:ext cx="171450" cy="171450"/>
          </a:xfrm>
          <a:prstGeom prst="ellipse">
            <a:avLst/>
          </a:prstGeom>
          <a:solidFill>
            <a:srgbClr val="BB0A12"/>
          </a:solidFill>
          <a:ln/>
        </p:spPr>
      </p:sp>
      <p:sp>
        <p:nvSpPr>
          <p:cNvPr id="8" name="Text 5"/>
          <p:cNvSpPr/>
          <p:nvPr/>
        </p:nvSpPr>
        <p:spPr>
          <a:xfrm>
            <a:off x="1352550" y="4526384"/>
            <a:ext cx="68149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· TRANSFERRED FROM IFSD TO COO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047750" y="4978822"/>
            <a:ext cx="2939579" cy="31432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10" name="Text 7"/>
          <p:cNvSpPr/>
          <p:nvPr/>
        </p:nvSpPr>
        <p:spPr>
          <a:xfrm>
            <a:off x="1314450" y="5264572"/>
            <a:ext cx="264679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314450" y="5659859"/>
            <a:ext cx="2482379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SimpleSurvey projects transferred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314450" y="6936209"/>
            <a:ext cx="2482379" cy="655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survey links kept active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177829" y="4978822"/>
            <a:ext cx="2939653" cy="31432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14" name="Text 11"/>
          <p:cNvSpPr/>
          <p:nvPr/>
        </p:nvSpPr>
        <p:spPr>
          <a:xfrm>
            <a:off x="4444529" y="5264572"/>
            <a:ext cx="264687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444529" y="5659859"/>
            <a:ext cx="2482453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 moved to COO OneDrive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4444529" y="6936209"/>
            <a:ext cx="2482453" cy="655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connections validated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307982" y="4978822"/>
            <a:ext cx="2939579" cy="31432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18" name="Text 15"/>
          <p:cNvSpPr/>
          <p:nvPr/>
        </p:nvSpPr>
        <p:spPr>
          <a:xfrm>
            <a:off x="7574682" y="5264572"/>
            <a:ext cx="264679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574682" y="5659859"/>
            <a:ext cx="2482379" cy="1562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through COO’s Power BI account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10438061" y="4978822"/>
            <a:ext cx="2939653" cy="31432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21" name="Text 18"/>
          <p:cNvSpPr/>
          <p:nvPr/>
        </p:nvSpPr>
        <p:spPr>
          <a:xfrm>
            <a:off x="10704761" y="5264572"/>
            <a:ext cx="264687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0704761" y="5659859"/>
            <a:ext cx="2482453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Maps enabled and tested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13911114" y="4571628"/>
            <a:ext cx="171450" cy="17145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4215914" y="4526384"/>
            <a:ext cx="16200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3911114" y="4978822"/>
            <a:ext cx="3329062" cy="3143250"/>
          </a:xfrm>
          <a:prstGeom prst="rect">
            <a:avLst/>
          </a:prstGeom>
          <a:ln w="28575">
            <a:solidFill>
              <a:srgbClr val="000000"/>
            </a:solidFill>
            <a:prstDash val="dash"/>
          </a:ln>
        </p:spPr>
      </p:sp>
      <p:sp>
        <p:nvSpPr>
          <p:cNvPr id="26" name="Text 23"/>
          <p:cNvSpPr/>
          <p:nvPr/>
        </p:nvSpPr>
        <p:spPr>
          <a:xfrm>
            <a:off x="14177814" y="5264572"/>
            <a:ext cx="307522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4177814" y="5659859"/>
            <a:ext cx="2879532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Replacement follows final review</a:t>
            </a:r>
            <a:endParaRPr lang="en-US" sz="2400" dirty="0"/>
          </a:p>
        </p:txBody>
      </p:sp>
      <p:sp>
        <p:nvSpPr>
          <p:cNvPr id="28" name="Text 25"/>
          <p:cNvSpPr/>
          <p:nvPr/>
        </p:nvSpPr>
        <p:spPr>
          <a:xfrm>
            <a:off x="14177814" y="6555209"/>
            <a:ext cx="307522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 access is ready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1047750" y="9282113"/>
            <a:ext cx="16192500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30" name="Text 27"/>
          <p:cNvSpPr/>
          <p:nvPr/>
        </p:nvSpPr>
        <p:spPr>
          <a:xfrm>
            <a:off x="1047750" y="9491663"/>
            <a:ext cx="690033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Development · Technology progress and next steps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16985977" y="9491663"/>
            <a:ext cx="3304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633528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· FNBD MIGRATION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157288"/>
            <a:ext cx="633528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041"/>
              </a:lnSpc>
              <a:buNone/>
            </a:pPr>
            <a:r>
              <a:rPr lang="en-US" sz="4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survey data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47750" y="1948979"/>
            <a:ext cx="633528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043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of October 13, 2026</a:t>
            </a:r>
            <a:endParaRPr lang="en-US" sz="22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11450" y="762000"/>
            <a:ext cx="1828800" cy="76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47750" y="2853854"/>
            <a:ext cx="4400550" cy="1295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842"/>
              </a:lnSpc>
              <a:buNone/>
            </a:pPr>
            <a:r>
              <a:rPr lang="en-US" sz="9900" b="1" spc="-19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735</a:t>
            </a:r>
            <a:endParaRPr lang="en-US" sz="9900" dirty="0"/>
          </a:p>
        </p:txBody>
      </p:sp>
      <p:sp>
        <p:nvSpPr>
          <p:cNvPr id="7" name="Text 4"/>
          <p:cNvSpPr/>
          <p:nvPr/>
        </p:nvSpPr>
        <p:spPr>
          <a:xfrm>
            <a:off x="1047750" y="4244504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Business-submitted responses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5505450" y="2853854"/>
            <a:ext cx="610195" cy="11353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253"/>
              </a:lnSpc>
              <a:buNone/>
            </a:pPr>
            <a:r>
              <a:rPr lang="en-US" sz="7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7200" dirty="0"/>
          </a:p>
        </p:txBody>
      </p:sp>
      <p:sp>
        <p:nvSpPr>
          <p:cNvPr id="9" name="Text 6"/>
          <p:cNvSpPr/>
          <p:nvPr/>
        </p:nvSpPr>
        <p:spPr>
          <a:xfrm>
            <a:off x="6496645" y="2853854"/>
            <a:ext cx="4610100" cy="1295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842"/>
              </a:lnSpc>
              <a:buNone/>
            </a:pPr>
            <a:r>
              <a:rPr lang="en-US" sz="9900" b="1" spc="-19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490</a:t>
            </a:r>
            <a:endParaRPr lang="en-US" sz="9900" dirty="0"/>
          </a:p>
        </p:txBody>
      </p:sp>
      <p:sp>
        <p:nvSpPr>
          <p:cNvPr id="10" name="Text 7"/>
          <p:cNvSpPr/>
          <p:nvPr/>
        </p:nvSpPr>
        <p:spPr>
          <a:xfrm>
            <a:off x="6496645" y="4244504"/>
            <a:ext cx="46101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/ approved-user responses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11144845" y="2853854"/>
            <a:ext cx="610195" cy="11353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253"/>
              </a:lnSpc>
              <a:buNone/>
            </a:pPr>
            <a:r>
              <a:rPr lang="en-US" sz="7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7200" dirty="0"/>
          </a:p>
        </p:txBody>
      </p:sp>
      <p:sp>
        <p:nvSpPr>
          <p:cNvPr id="12" name="Text 9"/>
          <p:cNvSpPr/>
          <p:nvPr/>
        </p:nvSpPr>
        <p:spPr>
          <a:xfrm>
            <a:off x="12136041" y="2853854"/>
            <a:ext cx="4336539" cy="1295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842"/>
              </a:lnSpc>
              <a:buNone/>
            </a:pPr>
            <a:r>
              <a:rPr lang="en-US" sz="9900" b="1" spc="-198" kern="0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1,225</a:t>
            </a:r>
            <a:endParaRPr lang="en-US" sz="9900" dirty="0"/>
          </a:p>
        </p:txBody>
      </p:sp>
      <p:sp>
        <p:nvSpPr>
          <p:cNvPr id="13" name="Text 10"/>
          <p:cNvSpPr/>
          <p:nvPr/>
        </p:nvSpPr>
        <p:spPr>
          <a:xfrm>
            <a:off x="12136041" y="4244504"/>
            <a:ext cx="433653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Submitted responses collected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1047750" y="4894585"/>
            <a:ext cx="114300" cy="1143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1276350" y="4820766"/>
            <a:ext cx="387209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incomplete responses excluded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47750" y="6166545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1,225 RESPONSES ARE NOW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047750" y="6599932"/>
            <a:ext cx="15513844" cy="533400"/>
          </a:xfrm>
          <a:prstGeom prst="rect">
            <a:avLst/>
          </a:prstGeom>
          <a:solidFill>
            <a:srgbClr val="BB0A12"/>
          </a:solidFill>
          <a:ln/>
        </p:spPr>
      </p:sp>
      <p:sp>
        <p:nvSpPr>
          <p:cNvPr id="18" name="Shape 15"/>
          <p:cNvSpPr/>
          <p:nvPr/>
        </p:nvSpPr>
        <p:spPr>
          <a:xfrm>
            <a:off x="16618744" y="6599932"/>
            <a:ext cx="621506" cy="533400"/>
          </a:xfrm>
          <a:prstGeom prst="rect">
            <a:avLst/>
          </a:prstGeom>
          <a:ln w="28575">
            <a:solidFill>
              <a:srgbClr val="000000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1047750" y="7304782"/>
            <a:ext cx="1678037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75"/>
              </a:lnSpc>
              <a:buNone/>
            </a:pPr>
            <a:r>
              <a:rPr lang="en-US" sz="4800" b="1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1,182</a:t>
            </a:r>
            <a:endParaRPr lang="en-US" sz="4800" dirty="0"/>
          </a:p>
        </p:txBody>
      </p:sp>
      <p:sp>
        <p:nvSpPr>
          <p:cNvPr id="20" name="Text 17"/>
          <p:cNvSpPr/>
          <p:nvPr/>
        </p:nvSpPr>
        <p:spPr>
          <a:xfrm>
            <a:off x="2763738" y="7557195"/>
            <a:ext cx="4320086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current Power BI dataset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13346981" y="7304782"/>
            <a:ext cx="754261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87075"/>
              </a:lnSpc>
              <a:buNone/>
            </a:pPr>
            <a:r>
              <a:rPr lang="en-US" sz="4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4800" dirty="0"/>
          </a:p>
        </p:txBody>
      </p:sp>
      <p:sp>
        <p:nvSpPr>
          <p:cNvPr id="22" name="Text 19"/>
          <p:cNvSpPr/>
          <p:nvPr/>
        </p:nvSpPr>
        <p:spPr>
          <a:xfrm>
            <a:off x="14376536" y="7557195"/>
            <a:ext cx="2863714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Awaiting processing</a:t>
            </a:r>
            <a:endParaRPr lang="en-US" sz="2100" dirty="0"/>
          </a:p>
        </p:txBody>
      </p:sp>
      <p:sp>
        <p:nvSpPr>
          <p:cNvPr id="23" name="Text 20"/>
          <p:cNvSpPr/>
          <p:nvPr/>
        </p:nvSpPr>
        <p:spPr>
          <a:xfrm>
            <a:off x="13996891" y="7941990"/>
            <a:ext cx="3243359" cy="3352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3455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included in the 1,225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1047750" y="8486775"/>
            <a:ext cx="6224364" cy="41433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200150" y="8562975"/>
            <a:ext cx="610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COUNTS, NOT UNIQUE BUSINESSES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462614" y="8562975"/>
            <a:ext cx="587075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unique-business count requires duplicate review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1047750" y="9282113"/>
            <a:ext cx="16192500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28" name="Text 25"/>
          <p:cNvSpPr/>
          <p:nvPr/>
        </p:nvSpPr>
        <p:spPr>
          <a:xfrm>
            <a:off x="1047750" y="9491663"/>
            <a:ext cx="690033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Development · Technology progress and next steps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6985977" y="9491663"/>
            <a:ext cx="3304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633463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· FNBD MIGRATION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157288"/>
            <a:ext cx="6334631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041"/>
              </a:lnSpc>
              <a:buNone/>
            </a:pPr>
            <a:r>
              <a:rPr lang="en-US" sz="4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 report preview</a:t>
            </a:r>
            <a:endParaRPr lang="en-US" sz="4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11450" y="762000"/>
            <a:ext cx="1828800" cy="76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2158529"/>
            <a:ext cx="11844114" cy="6610350"/>
          </a:xfrm>
          <a:prstGeom prst="rect">
            <a:avLst/>
          </a:prstGeom>
          <a:ln w="19050">
            <a:solidFill>
              <a:srgbClr val="E0DFD9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2158529"/>
            <a:ext cx="11844114" cy="66103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425264" y="2158529"/>
            <a:ext cx="419648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FILTERED VIEW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13425264" y="2534766"/>
            <a:ext cx="3929435" cy="1424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COO report, filtered to Ontario: </a:t>
            </a:r>
            <a:pPr algn="l" indent="0" marL="0">
              <a:lnSpc>
                <a:spcPct val="121333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912 submitted records </a:t>
            </a:r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Counts change with filters; duplicate review is pending.</a:t>
            </a:r>
            <a:endParaRPr lang="en-US" sz="1950" dirty="0"/>
          </a:p>
        </p:txBody>
      </p:sp>
      <p:sp>
        <p:nvSpPr>
          <p:cNvPr id="9" name="Shape 5"/>
          <p:cNvSpPr/>
          <p:nvPr/>
        </p:nvSpPr>
        <p:spPr>
          <a:xfrm>
            <a:off x="13425264" y="4188247"/>
            <a:ext cx="3814986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10" name="Text 6"/>
          <p:cNvSpPr/>
          <p:nvPr/>
        </p:nvSpPr>
        <p:spPr>
          <a:xfrm>
            <a:off x="13425264" y="4435897"/>
            <a:ext cx="419648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DATASET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3425264" y="4793084"/>
            <a:ext cx="392943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1,225 collected; 1,182 in Power BI (slide 3)</a:t>
            </a:r>
            <a:endParaRPr lang="en-US" sz="1800" dirty="0"/>
          </a:p>
        </p:txBody>
      </p:sp>
      <p:sp>
        <p:nvSpPr>
          <p:cNvPr id="12" name="Shape 8">
            <a:hlinkClick r:id="rIdPowerBiReport"/>
          </p:cNvPr>
          <p:cNvSpPr/>
          <p:nvPr/>
        </p:nvSpPr>
        <p:spPr>
          <a:xfrm>
            <a:off x="13425264" y="8410575"/>
            <a:ext cx="3247653" cy="528638"/>
          </a:xfrm>
          <a:prstGeom prst="rect">
            <a:avLst/>
          </a:prstGeom>
          <a:solidFill>
            <a:srgbClr val="BB0A12"/>
          </a:solidFill>
          <a:ln/>
        </p:spPr>
      </p:sp>
      <p:sp>
        <p:nvSpPr>
          <p:cNvPr id="13" name="Text 9">
            <a:hlinkClick r:id="rIdPowerBiReport"/>
          </p:cNvPr>
          <p:cNvSpPr/>
          <p:nvPr/>
        </p:nvSpPr>
        <p:spPr>
          <a:xfrm>
            <a:off x="13615764" y="8543925"/>
            <a:ext cx="296408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COO Power BI report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1047750" y="9282113"/>
            <a:ext cx="16192500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15" name="Text 11"/>
          <p:cNvSpPr/>
          <p:nvPr/>
        </p:nvSpPr>
        <p:spPr>
          <a:xfrm>
            <a:off x="1047750" y="9491663"/>
            <a:ext cx="690033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Development · Technology progress and next steps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16985977" y="9491663"/>
            <a:ext cx="3304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140279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· FNBD MIGRATION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157288"/>
            <a:ext cx="11402794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041"/>
              </a:lnSpc>
              <a:buNone/>
            </a:pPr>
            <a:r>
              <a:rPr lang="en-US" sz="4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submissions and next steps</a:t>
            </a:r>
            <a:endParaRPr lang="en-US" sz="4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11450" y="762000"/>
            <a:ext cx="1828800" cy="76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7750" y="2425229"/>
            <a:ext cx="157162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POSITION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1047750" y="3049116"/>
            <a:ext cx="171450" cy="171450"/>
          </a:xfrm>
          <a:prstGeom prst="ellipse">
            <a:avLst/>
          </a:prstGeom>
          <a:solidFill>
            <a:srgbClr val="BB0A12"/>
          </a:solidFill>
          <a:ln/>
        </p:spPr>
      </p:sp>
      <p:sp>
        <p:nvSpPr>
          <p:cNvPr id="7" name="Text 4"/>
          <p:cNvSpPr/>
          <p:nvPr/>
        </p:nvSpPr>
        <p:spPr>
          <a:xfrm>
            <a:off x="1409700" y="2915766"/>
            <a:ext cx="6632067" cy="92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46"/>
              </a:lnSpc>
              <a:buNone/>
            </a:pPr>
            <a:r>
              <a:rPr lang="en-US" sz="2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survey submissions reach COO’s SimpleSurvey account.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8534400" y="3049116"/>
            <a:ext cx="171450" cy="17145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96350" y="2915766"/>
            <a:ext cx="6632067" cy="92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46"/>
              </a:lnSpc>
              <a:buNone/>
            </a:pPr>
            <a:r>
              <a:rPr lang="en-US" sz="2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recent responses to the report is still a manual step.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1047750" y="6952357"/>
            <a:ext cx="518898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· MANUAL, LED BY MIHIR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6007283" y="6952357"/>
            <a:ext cx="135626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047750" y="7423845"/>
            <a:ext cx="2613422" cy="5715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1047750" y="7690545"/>
            <a:ext cx="262330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047750" y="8047732"/>
            <a:ext cx="2461022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667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recent responses</a:t>
            </a:r>
            <a:endParaRPr lang="en-US" sz="1950" dirty="0"/>
          </a:p>
        </p:txBody>
      </p:sp>
      <p:sp>
        <p:nvSpPr>
          <p:cNvPr id="15" name="Shape 12"/>
          <p:cNvSpPr/>
          <p:nvPr/>
        </p:nvSpPr>
        <p:spPr>
          <a:xfrm>
            <a:off x="3661172" y="7423845"/>
            <a:ext cx="2613496" cy="5715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3661172" y="7690545"/>
            <a:ext cx="262338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661172" y="8047732"/>
            <a:ext cx="262338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667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duplicates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6274668" y="7423845"/>
            <a:ext cx="2613422" cy="5715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274668" y="7690545"/>
            <a:ext cx="262330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274668" y="8047732"/>
            <a:ext cx="2623304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667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locations</a:t>
            </a:r>
            <a:endParaRPr lang="en-US" sz="1950" dirty="0"/>
          </a:p>
        </p:txBody>
      </p:sp>
      <p:sp>
        <p:nvSpPr>
          <p:cNvPr id="21" name="Shape 18"/>
          <p:cNvSpPr/>
          <p:nvPr/>
        </p:nvSpPr>
        <p:spPr>
          <a:xfrm>
            <a:off x="8888090" y="7423845"/>
            <a:ext cx="2613496" cy="5715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8888090" y="7690545"/>
            <a:ext cx="262338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8888090" y="8047732"/>
            <a:ext cx="2461096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667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Greg reviews the update</a:t>
            </a:r>
            <a:endParaRPr lang="en-US" sz="1950" dirty="0"/>
          </a:p>
        </p:txBody>
      </p:sp>
      <p:sp>
        <p:nvSpPr>
          <p:cNvPr id="24" name="Shape 21"/>
          <p:cNvSpPr/>
          <p:nvPr/>
        </p:nvSpPr>
        <p:spPr>
          <a:xfrm>
            <a:off x="11501586" y="7423845"/>
            <a:ext cx="2613496" cy="5715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1501586" y="7690545"/>
            <a:ext cx="262338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501586" y="8047732"/>
            <a:ext cx="262338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667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the report</a:t>
            </a:r>
            <a:endParaRPr lang="en-US" sz="1950" dirty="0"/>
          </a:p>
        </p:txBody>
      </p:sp>
      <p:sp>
        <p:nvSpPr>
          <p:cNvPr id="27" name="Shape 24"/>
          <p:cNvSpPr/>
          <p:nvPr/>
        </p:nvSpPr>
        <p:spPr>
          <a:xfrm>
            <a:off x="14496083" y="7423845"/>
            <a:ext cx="2744093" cy="1439168"/>
          </a:xfrm>
          <a:prstGeom prst="rect">
            <a:avLst/>
          </a:prstGeom>
          <a:ln w="28575">
            <a:solidFill>
              <a:srgbClr val="000000"/>
            </a:solidFill>
            <a:prstDash val="dash"/>
          </a:ln>
        </p:spPr>
      </p:sp>
      <p:sp>
        <p:nvSpPr>
          <p:cNvPr id="28" name="Text 25"/>
          <p:cNvSpPr/>
          <p:nvPr/>
        </p:nvSpPr>
        <p:spPr>
          <a:xfrm>
            <a:off x="14753258" y="7642920"/>
            <a:ext cx="24527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4753258" y="8000107"/>
            <a:ext cx="2305943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667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this recurring process</a:t>
            </a:r>
            <a:endParaRPr lang="en-US" sz="1950" dirty="0"/>
          </a:p>
        </p:txBody>
      </p:sp>
      <p:sp>
        <p:nvSpPr>
          <p:cNvPr id="30" name="Shape 27"/>
          <p:cNvSpPr/>
          <p:nvPr/>
        </p:nvSpPr>
        <p:spPr>
          <a:xfrm>
            <a:off x="1047750" y="9282113"/>
            <a:ext cx="16192500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31" name="Text 28"/>
          <p:cNvSpPr/>
          <p:nvPr/>
        </p:nvSpPr>
        <p:spPr>
          <a:xfrm>
            <a:off x="1047750" y="9491663"/>
            <a:ext cx="690033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Development · Technology progress and next steps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16985977" y="9491663"/>
            <a:ext cx="3304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82346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· GRANTS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157288"/>
            <a:ext cx="8234660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041"/>
              </a:lnSpc>
              <a:buNone/>
            </a:pPr>
            <a:r>
              <a:rPr lang="en-US" sz="4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Grants &amp; Funding Tracker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47750" y="1948979"/>
            <a:ext cx="823466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432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Making funding opportunities easier to find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11450" y="762000"/>
            <a:ext cx="1828800" cy="76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47750" y="2688059"/>
            <a:ext cx="10104611" cy="5290617"/>
          </a:xfrm>
          <a:prstGeom prst="rect">
            <a:avLst/>
          </a:prstGeom>
          <a:ln w="19050">
            <a:solidFill>
              <a:srgbClr val="E0DFD9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2688059"/>
            <a:ext cx="10104611" cy="529061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47750" y="8150126"/>
            <a:ext cx="10368506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to COO: </a:t>
            </a:r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information is easier to browse, with less need to search through a spreadsheet.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11647661" y="3952949"/>
            <a:ext cx="5592589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10" name="Shape 6"/>
          <p:cNvSpPr/>
          <p:nvPr/>
        </p:nvSpPr>
        <p:spPr>
          <a:xfrm>
            <a:off x="11647661" y="2897609"/>
            <a:ext cx="171450" cy="171450"/>
          </a:xfrm>
          <a:prstGeom prst="ellipse">
            <a:avLst/>
          </a:prstGeom>
          <a:solidFill>
            <a:srgbClr val="BB0A12"/>
          </a:solidFill>
          <a:ln/>
        </p:spPr>
      </p:sp>
      <p:sp>
        <p:nvSpPr>
          <p:cNvPr id="11" name="Text 7"/>
          <p:cNvSpPr/>
          <p:nvPr/>
        </p:nvSpPr>
        <p:spPr>
          <a:xfrm>
            <a:off x="11952461" y="2840459"/>
            <a:ext cx="62641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1950" dirty="0"/>
          </a:p>
        </p:txBody>
      </p:sp>
      <p:sp>
        <p:nvSpPr>
          <p:cNvPr id="12" name="Text 8"/>
          <p:cNvSpPr/>
          <p:nvPr/>
        </p:nvSpPr>
        <p:spPr>
          <a:xfrm>
            <a:off x="11952461" y="3183359"/>
            <a:ext cx="5455567" cy="655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grants, filter opportunities, view eligibility, deadlines and application links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647661" y="5236890"/>
            <a:ext cx="5592589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14" name="Shape 10"/>
          <p:cNvSpPr/>
          <p:nvPr/>
        </p:nvSpPr>
        <p:spPr>
          <a:xfrm>
            <a:off x="11647661" y="4181549"/>
            <a:ext cx="171450" cy="171450"/>
          </a:xfrm>
          <a:prstGeom prst="ellipse">
            <a:avLst/>
          </a:prstGeom>
          <a:solidFill>
            <a:srgbClr val="BB0A12"/>
          </a:solidFill>
          <a:ln/>
        </p:spPr>
      </p:sp>
      <p:sp>
        <p:nvSpPr>
          <p:cNvPr id="15" name="Text 11"/>
          <p:cNvSpPr/>
          <p:nvPr/>
        </p:nvSpPr>
        <p:spPr>
          <a:xfrm>
            <a:off x="11952461" y="4124399"/>
            <a:ext cx="183168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Demonstrated</a:t>
            </a:r>
            <a:endParaRPr lang="en-US" sz="1950" dirty="0"/>
          </a:p>
        </p:txBody>
      </p:sp>
      <p:sp>
        <p:nvSpPr>
          <p:cNvPr id="16" name="Text 12"/>
          <p:cNvSpPr/>
          <p:nvPr/>
        </p:nvSpPr>
        <p:spPr>
          <a:xfrm>
            <a:off x="11952461" y="4467299"/>
            <a:ext cx="5455567" cy="655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 on a standalone WordPress page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11647661" y="6520830"/>
            <a:ext cx="5592589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18" name="Shape 14"/>
          <p:cNvSpPr/>
          <p:nvPr/>
        </p:nvSpPr>
        <p:spPr>
          <a:xfrm>
            <a:off x="11647661" y="5465490"/>
            <a:ext cx="171450" cy="171450"/>
          </a:xfrm>
          <a:prstGeom prst="ellipse">
            <a:avLst/>
          </a:prstGeom>
          <a:solidFill>
            <a:srgbClr val="BB0A12"/>
          </a:solidFill>
          <a:ln/>
        </p:spPr>
      </p:sp>
      <p:sp>
        <p:nvSpPr>
          <p:cNvPr id="19" name="Text 15"/>
          <p:cNvSpPr/>
          <p:nvPr/>
        </p:nvSpPr>
        <p:spPr>
          <a:xfrm>
            <a:off x="11952461" y="5408340"/>
            <a:ext cx="166502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Collaborated</a:t>
            </a:r>
            <a:endParaRPr lang="en-US" sz="1950" dirty="0"/>
          </a:p>
        </p:txBody>
      </p:sp>
      <p:sp>
        <p:nvSpPr>
          <p:cNvPr id="20" name="Text 16"/>
          <p:cNvSpPr/>
          <p:nvPr/>
        </p:nvSpPr>
        <p:spPr>
          <a:xfrm>
            <a:off x="11952461" y="5751240"/>
            <a:ext cx="5455567" cy="655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Communications requested font, wording and source-edition updates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11647661" y="7804770"/>
            <a:ext cx="5592589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22" name="Shape 18"/>
          <p:cNvSpPr/>
          <p:nvPr/>
        </p:nvSpPr>
        <p:spPr>
          <a:xfrm>
            <a:off x="11647661" y="6749430"/>
            <a:ext cx="171450" cy="17145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952461" y="6692280"/>
            <a:ext cx="61302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950" dirty="0"/>
          </a:p>
        </p:txBody>
      </p:sp>
      <p:sp>
        <p:nvSpPr>
          <p:cNvPr id="24" name="Text 20"/>
          <p:cNvSpPr/>
          <p:nvPr/>
        </p:nvSpPr>
        <p:spPr>
          <a:xfrm>
            <a:off x="11952461" y="7035180"/>
            <a:ext cx="5455567" cy="655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updates and internal review; agree hosting and maintenance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11647661" y="8429625"/>
            <a:ext cx="3169072" cy="509587"/>
          </a:xfrm>
          <a:prstGeom prst="rect">
            <a:avLst/>
          </a:prstGeom>
          <a:ln w="28575">
            <a:solidFill>
              <a:srgbClr val="000000"/>
            </a:solidFill>
            <a:prstDash val="dash"/>
          </a:ln>
        </p:spPr>
      </p:sp>
      <p:sp>
        <p:nvSpPr>
          <p:cNvPr id="26" name="Text 22"/>
          <p:cNvSpPr/>
          <p:nvPr/>
        </p:nvSpPr>
        <p:spPr>
          <a:xfrm>
            <a:off x="11847686" y="8553450"/>
            <a:ext cx="286409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yet publicly launched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1047750" y="9282113"/>
            <a:ext cx="16192500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28" name="Text 24"/>
          <p:cNvSpPr/>
          <p:nvPr/>
        </p:nvSpPr>
        <p:spPr>
          <a:xfrm>
            <a:off x="1047750" y="9491663"/>
            <a:ext cx="690033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Development · Technology progress and next steps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16985977" y="9491663"/>
            <a:ext cx="3304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3378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· MAKWA7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157288"/>
            <a:ext cx="13378785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041"/>
              </a:lnSpc>
              <a:buNone/>
            </a:pPr>
            <a:r>
              <a:rPr lang="en-US" sz="4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business verification with Makwa7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47750" y="1948979"/>
            <a:ext cx="1337878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043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secure process for collecting documents and verifying First Nations businesses</a:t>
            </a:r>
            <a:endParaRPr lang="en-US" sz="22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11450" y="762000"/>
            <a:ext cx="1828800" cy="76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206180" y="2777654"/>
            <a:ext cx="9875565" cy="4731841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7" name="Text 4"/>
          <p:cNvSpPr/>
          <p:nvPr/>
        </p:nvSpPr>
        <p:spPr>
          <a:xfrm>
            <a:off x="1047750" y="2949104"/>
            <a:ext cx="311583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339530" y="2949104"/>
            <a:ext cx="989713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· SUPPORTING DOCUMENTS IN M-FILES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4215095" y="2949104"/>
            <a:ext cx="311591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047750" y="3363441"/>
            <a:ext cx="3025080" cy="24974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1047750" y="3363441"/>
            <a:ext cx="3025080" cy="5715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1257300" y="3611091"/>
            <a:ext cx="286657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257300" y="3968279"/>
            <a:ext cx="2684160" cy="681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871"/>
              </a:lnSpc>
              <a:buNone/>
            </a:pPr>
            <a:r>
              <a:rPr lang="en-US" sz="2025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registration</a:t>
            </a:r>
            <a:endParaRPr lang="en-US" sz="2025" dirty="0"/>
          </a:p>
        </p:txBody>
      </p:sp>
      <p:sp>
        <p:nvSpPr>
          <p:cNvPr id="14" name="Text 11"/>
          <p:cNvSpPr/>
          <p:nvPr/>
        </p:nvSpPr>
        <p:spPr>
          <a:xfrm>
            <a:off x="1257300" y="4706466"/>
            <a:ext cx="2684160" cy="9638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Completes SimpleSurvey; receives a unique business ID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339530" y="3363441"/>
            <a:ext cx="3025155" cy="24974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4339530" y="3363441"/>
            <a:ext cx="3025155" cy="5715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549080" y="3611091"/>
            <a:ext cx="28666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549080" y="3968279"/>
            <a:ext cx="2684237" cy="681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871"/>
              </a:lnSpc>
              <a:buNone/>
            </a:pPr>
            <a:r>
              <a:rPr lang="en-US" sz="2025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submission</a:t>
            </a:r>
            <a:endParaRPr lang="en-US" sz="2025" dirty="0"/>
          </a:p>
        </p:txBody>
      </p:sp>
      <p:sp>
        <p:nvSpPr>
          <p:cNvPr id="19" name="Text 16"/>
          <p:cNvSpPr/>
          <p:nvPr/>
        </p:nvSpPr>
        <p:spPr>
          <a:xfrm>
            <a:off x="4549080" y="4706466"/>
            <a:ext cx="2684237" cy="9638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Makwa7 upload portal: ID, email and supporting documents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7631385" y="3363441"/>
            <a:ext cx="3025155" cy="24974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631385" y="3363441"/>
            <a:ext cx="3025155" cy="5715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7840935" y="3611091"/>
            <a:ext cx="28666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7840935" y="3968279"/>
            <a:ext cx="2684237" cy="681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871"/>
              </a:lnSpc>
              <a:buNone/>
            </a:pPr>
            <a:r>
              <a:rPr lang="en-US" sz="2025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storage in M-Files</a:t>
            </a:r>
            <a:endParaRPr lang="en-US" sz="2025" dirty="0"/>
          </a:p>
        </p:txBody>
      </p:sp>
      <p:sp>
        <p:nvSpPr>
          <p:cNvPr id="24" name="Text 21"/>
          <p:cNvSpPr/>
          <p:nvPr/>
        </p:nvSpPr>
        <p:spPr>
          <a:xfrm>
            <a:off x="7840935" y="4706466"/>
            <a:ext cx="2684237" cy="9638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Makwa7 data centre on First Nation land in Kamloops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0923240" y="3363441"/>
            <a:ext cx="3025155" cy="24974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3"/>
          <p:cNvSpPr/>
          <p:nvPr/>
        </p:nvSpPr>
        <p:spPr>
          <a:xfrm>
            <a:off x="10923240" y="3363441"/>
            <a:ext cx="3025155" cy="5715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11132790" y="3611091"/>
            <a:ext cx="28666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1132790" y="3968279"/>
            <a:ext cx="2866660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871"/>
              </a:lnSpc>
              <a:buNone/>
            </a:pPr>
            <a:r>
              <a:rPr lang="en-US" sz="2025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verification</a:t>
            </a:r>
            <a:endParaRPr lang="en-US" sz="2025" dirty="0"/>
          </a:p>
        </p:txBody>
      </p:sp>
      <p:sp>
        <p:nvSpPr>
          <p:cNvPr id="29" name="Text 26"/>
          <p:cNvSpPr/>
          <p:nvPr/>
        </p:nvSpPr>
        <p:spPr>
          <a:xfrm>
            <a:off x="11132790" y="4384997"/>
            <a:ext cx="2684237" cy="655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Officer reviews the application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14215095" y="3363441"/>
            <a:ext cx="3025155" cy="24974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8"/>
          <p:cNvSpPr/>
          <p:nvPr/>
        </p:nvSpPr>
        <p:spPr>
          <a:xfrm>
            <a:off x="14215095" y="3363441"/>
            <a:ext cx="3025155" cy="57150"/>
          </a:xfrm>
          <a:prstGeom prst="rect">
            <a:avLst/>
          </a:prstGeom>
          <a:solidFill>
            <a:srgbClr val="BB0A12"/>
          </a:solidFill>
          <a:ln/>
        </p:spPr>
      </p:sp>
      <p:sp>
        <p:nvSpPr>
          <p:cNvPr id="32" name="Text 29"/>
          <p:cNvSpPr/>
          <p:nvPr/>
        </p:nvSpPr>
        <p:spPr>
          <a:xfrm>
            <a:off x="14424645" y="3611091"/>
            <a:ext cx="28666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14424645" y="3968279"/>
            <a:ext cx="2866660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871"/>
              </a:lnSpc>
              <a:buNone/>
            </a:pPr>
            <a:r>
              <a:rPr lang="en-US" sz="2025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result</a:t>
            </a:r>
            <a:endParaRPr lang="en-US" sz="2025" dirty="0"/>
          </a:p>
        </p:txBody>
      </p:sp>
      <p:sp>
        <p:nvSpPr>
          <p:cNvPr id="34" name="Text 31"/>
          <p:cNvSpPr/>
          <p:nvPr/>
        </p:nvSpPr>
        <p:spPr>
          <a:xfrm>
            <a:off x="14424645" y="4384997"/>
            <a:ext cx="2684237" cy="9638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ID and verification status recorded once approved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5492576" y="6279952"/>
            <a:ext cx="7302773" cy="28575"/>
          </a:xfrm>
          <a:prstGeom prst="rect">
            <a:avLst/>
          </a:prstGeom>
          <a:solidFill>
            <a:srgbClr val="BB0A12"/>
          </a:solidFill>
          <a:ln/>
        </p:spPr>
      </p:sp>
      <p:sp>
        <p:nvSpPr>
          <p:cNvPr id="36" name="Shape 33"/>
          <p:cNvSpPr/>
          <p:nvPr/>
        </p:nvSpPr>
        <p:spPr>
          <a:xfrm>
            <a:off x="5492576" y="5860852"/>
            <a:ext cx="28575" cy="447675"/>
          </a:xfrm>
          <a:prstGeom prst="rect">
            <a:avLst/>
          </a:prstGeom>
          <a:solidFill>
            <a:srgbClr val="BB0A12"/>
          </a:solidFill>
          <a:ln/>
        </p:spPr>
      </p:sp>
      <p:sp>
        <p:nvSpPr>
          <p:cNvPr id="37" name="Shape 34"/>
          <p:cNvSpPr/>
          <p:nvPr/>
        </p:nvSpPr>
        <p:spPr>
          <a:xfrm>
            <a:off x="12766774" y="5860852"/>
            <a:ext cx="28575" cy="447675"/>
          </a:xfrm>
          <a:prstGeom prst="rect">
            <a:avLst/>
          </a:prstGeom>
          <a:solidFill>
            <a:srgbClr val="BB0A12"/>
          </a:solidFill>
          <a:ln/>
        </p:spPr>
      </p:sp>
      <p:sp>
        <p:nvSpPr>
          <p:cNvPr id="38" name="Shape 35"/>
          <p:cNvSpPr/>
          <p:nvPr/>
        </p:nvSpPr>
        <p:spPr>
          <a:xfrm>
            <a:off x="5387801" y="5841802"/>
            <a:ext cx="209550" cy="152400"/>
          </a:xfrm>
          <a:prstGeom prst="rect">
            <a:avLst/>
          </a:prstGeom>
          <a:solidFill>
            <a:srgbClr val="BB0A12"/>
          </a:solidFill>
          <a:ln/>
        </p:spPr>
      </p:sp>
      <p:sp>
        <p:nvSpPr>
          <p:cNvPr id="39" name="Text 36"/>
          <p:cNvSpPr/>
          <p:nvPr/>
        </p:nvSpPr>
        <p:spPr>
          <a:xfrm>
            <a:off x="3859087" y="6413302"/>
            <a:ext cx="10569751" cy="3352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3455"/>
              </a:lnSpc>
              <a:buNone/>
            </a:pPr>
            <a:r>
              <a:rPr lang="en-US" sz="1800" b="1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information is missing: </a:t>
            </a:r>
            <a:pPr algn="ctr" indent="0" marL="0">
              <a:lnSpc>
                <a:spcPct val="113455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business is asked to upload additional documents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4215095" y="6013252"/>
            <a:ext cx="3115910" cy="9295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55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 to downstream storage for directory and reporting use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14215095" y="6999908"/>
            <a:ext cx="3025155" cy="509587"/>
          </a:xfrm>
          <a:prstGeom prst="rect">
            <a:avLst/>
          </a:prstGeom>
          <a:ln w="28575">
            <a:solidFill>
              <a:srgbClr val="000000"/>
            </a:solidFill>
            <a:prstDash val="dash"/>
          </a:ln>
        </p:spPr>
      </p:sp>
      <p:sp>
        <p:nvSpPr>
          <p:cNvPr id="42" name="Text 39"/>
          <p:cNvSpPr/>
          <p:nvPr/>
        </p:nvSpPr>
        <p:spPr>
          <a:xfrm>
            <a:off x="14331643" y="7123733"/>
            <a:ext cx="27920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confirmed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1047750" y="8501063"/>
            <a:ext cx="457200" cy="57150"/>
          </a:xfrm>
          <a:prstGeom prst="rect">
            <a:avLst/>
          </a:prstGeom>
          <a:solidFill>
            <a:srgbClr val="BB0A12"/>
          </a:solidFill>
          <a:ln/>
        </p:spPr>
      </p:sp>
      <p:sp>
        <p:nvSpPr>
          <p:cNvPr id="44" name="Text 41"/>
          <p:cNvSpPr/>
          <p:nvPr/>
        </p:nvSpPr>
        <p:spPr>
          <a:xfrm>
            <a:off x="1771650" y="8158163"/>
            <a:ext cx="15932658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043"/>
              </a:lnSpc>
              <a:buNone/>
            </a:pPr>
            <a:r>
              <a:rPr lang="en-US" sz="2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supports the public business directory. M-Files manages the private documents and verification process behind it.</a:t>
            </a:r>
            <a:endParaRPr lang="en-US" sz="2250" dirty="0"/>
          </a:p>
        </p:txBody>
      </p:sp>
      <p:sp>
        <p:nvSpPr>
          <p:cNvPr id="45" name="Shape 42"/>
          <p:cNvSpPr/>
          <p:nvPr/>
        </p:nvSpPr>
        <p:spPr>
          <a:xfrm>
            <a:off x="1047750" y="9282113"/>
            <a:ext cx="16192500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46" name="Text 43"/>
          <p:cNvSpPr/>
          <p:nvPr/>
        </p:nvSpPr>
        <p:spPr>
          <a:xfrm>
            <a:off x="1047750" y="9491663"/>
            <a:ext cx="690033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Development · Technology progress and next steps</a:t>
            </a:r>
            <a:endParaRPr lang="en-US" sz="1800" dirty="0"/>
          </a:p>
        </p:txBody>
      </p:sp>
      <p:sp>
        <p:nvSpPr>
          <p:cNvPr id="47" name="Text 44"/>
          <p:cNvSpPr/>
          <p:nvPr/>
        </p:nvSpPr>
        <p:spPr>
          <a:xfrm>
            <a:off x="16985977" y="9491663"/>
            <a:ext cx="3304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233463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· MAKWA7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157288"/>
            <a:ext cx="12334637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041"/>
              </a:lnSpc>
              <a:buNone/>
            </a:pPr>
            <a:r>
              <a:rPr lang="en-US" sz="4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Makwa7: current status and next steps</a:t>
            </a:r>
            <a:endParaRPr lang="en-US" sz="4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11450" y="762000"/>
            <a:ext cx="1828800" cy="76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2356172"/>
            <a:ext cx="171450" cy="171450"/>
          </a:xfrm>
          <a:prstGeom prst="ellipse">
            <a:avLst/>
          </a:prstGeom>
          <a:solidFill>
            <a:srgbClr val="BB0A12"/>
          </a:solidFill>
          <a:ln/>
        </p:spPr>
      </p:sp>
      <p:sp>
        <p:nvSpPr>
          <p:cNvPr id="6" name="Text 3"/>
          <p:cNvSpPr/>
          <p:nvPr/>
        </p:nvSpPr>
        <p:spPr>
          <a:xfrm>
            <a:off x="1352550" y="2310929"/>
            <a:ext cx="254938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STATUS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047750" y="2782416"/>
            <a:ext cx="6590333" cy="3520976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8" name="Text 5"/>
          <p:cNvSpPr/>
          <p:nvPr/>
        </p:nvSpPr>
        <p:spPr>
          <a:xfrm>
            <a:off x="1371600" y="3087216"/>
            <a:ext cx="6120912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Makwa7 configured the document upload and M-Files verification workflow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1371600" y="3946252"/>
            <a:ext cx="6120912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Makwa7 introduced the workflow and began onboarding COO staff</a:t>
            </a:r>
            <a:endParaRPr lang="en-US" sz="1950" dirty="0"/>
          </a:p>
        </p:txBody>
      </p:sp>
      <p:sp>
        <p:nvSpPr>
          <p:cNvPr id="10" name="Text 7"/>
          <p:cNvSpPr/>
          <p:nvPr/>
        </p:nvSpPr>
        <p:spPr>
          <a:xfrm>
            <a:off x="1371600" y="4805288"/>
            <a:ext cx="6536896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 purchased a dedicated verification workstation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1371600" y="5330056"/>
            <a:ext cx="6120912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 is reviewing the VM option for a controlled connection to Makwa7’s environment</a:t>
            </a:r>
            <a:endParaRPr lang="en-US" sz="1950" dirty="0"/>
          </a:p>
        </p:txBody>
      </p:sp>
      <p:sp>
        <p:nvSpPr>
          <p:cNvPr id="12" name="Shape 9"/>
          <p:cNvSpPr/>
          <p:nvPr/>
        </p:nvSpPr>
        <p:spPr>
          <a:xfrm>
            <a:off x="8323883" y="2356172"/>
            <a:ext cx="171450" cy="17145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28683" y="2310929"/>
            <a:ext cx="17661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323883" y="2782416"/>
            <a:ext cx="8916367" cy="28575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8323883" y="3488159"/>
            <a:ext cx="2286000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16" name="Text 13"/>
          <p:cNvSpPr/>
          <p:nvPr/>
        </p:nvSpPr>
        <p:spPr>
          <a:xfrm>
            <a:off x="8323883" y="2982441"/>
            <a:ext cx="2362200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</a:t>
            </a:r>
            <a:endParaRPr lang="en-US" sz="1950" dirty="0"/>
          </a:p>
        </p:txBody>
      </p:sp>
      <p:sp>
        <p:nvSpPr>
          <p:cNvPr id="17" name="Shape 14"/>
          <p:cNvSpPr/>
          <p:nvPr/>
        </p:nvSpPr>
        <p:spPr>
          <a:xfrm>
            <a:off x="10609883" y="3488159"/>
            <a:ext cx="6630367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18" name="Text 15"/>
          <p:cNvSpPr/>
          <p:nvPr/>
        </p:nvSpPr>
        <p:spPr>
          <a:xfrm>
            <a:off x="10609883" y="2982441"/>
            <a:ext cx="682927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M-Files training; test access for Sonnet and Mihir</a:t>
            </a:r>
            <a:endParaRPr lang="en-US" sz="1950" dirty="0"/>
          </a:p>
        </p:txBody>
      </p:sp>
      <p:sp>
        <p:nvSpPr>
          <p:cNvPr id="19" name="Shape 16"/>
          <p:cNvSpPr/>
          <p:nvPr/>
        </p:nvSpPr>
        <p:spPr>
          <a:xfrm>
            <a:off x="8323883" y="4518645"/>
            <a:ext cx="2286000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20" name="Text 17"/>
          <p:cNvSpPr/>
          <p:nvPr/>
        </p:nvSpPr>
        <p:spPr>
          <a:xfrm>
            <a:off x="8323883" y="3678659"/>
            <a:ext cx="2362200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950" dirty="0"/>
          </a:p>
        </p:txBody>
      </p:sp>
      <p:sp>
        <p:nvSpPr>
          <p:cNvPr id="21" name="Shape 18"/>
          <p:cNvSpPr/>
          <p:nvPr/>
        </p:nvSpPr>
        <p:spPr>
          <a:xfrm>
            <a:off x="10609883" y="4518645"/>
            <a:ext cx="6630367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22" name="Text 19"/>
          <p:cNvSpPr/>
          <p:nvPr/>
        </p:nvSpPr>
        <p:spPr>
          <a:xfrm>
            <a:off x="10609883" y="3678659"/>
            <a:ext cx="6829278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VM scope, cost and responsibilities; secure the COO workstation</a:t>
            </a:r>
            <a:endParaRPr lang="en-US" sz="1950" dirty="0"/>
          </a:p>
        </p:txBody>
      </p:sp>
      <p:sp>
        <p:nvSpPr>
          <p:cNvPr id="23" name="Shape 20"/>
          <p:cNvSpPr/>
          <p:nvPr/>
        </p:nvSpPr>
        <p:spPr>
          <a:xfrm>
            <a:off x="8323883" y="5549131"/>
            <a:ext cx="2286000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24" name="Text 21"/>
          <p:cNvSpPr/>
          <p:nvPr/>
        </p:nvSpPr>
        <p:spPr>
          <a:xfrm>
            <a:off x="8323883" y="4709145"/>
            <a:ext cx="2362200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</a:t>
            </a:r>
            <a:endParaRPr lang="en-US" sz="1950" dirty="0"/>
          </a:p>
        </p:txBody>
      </p:sp>
      <p:sp>
        <p:nvSpPr>
          <p:cNvPr id="25" name="Shape 22"/>
          <p:cNvSpPr/>
          <p:nvPr/>
        </p:nvSpPr>
        <p:spPr>
          <a:xfrm>
            <a:off x="10609883" y="5549131"/>
            <a:ext cx="6630367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26" name="Text 23"/>
          <p:cNvSpPr/>
          <p:nvPr/>
        </p:nvSpPr>
        <p:spPr>
          <a:xfrm>
            <a:off x="10609883" y="4709145"/>
            <a:ext cx="6829278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test with sample businesses, including additional-document requests</a:t>
            </a:r>
            <a:endParaRPr lang="en-US" sz="1950" dirty="0"/>
          </a:p>
        </p:txBody>
      </p:sp>
      <p:sp>
        <p:nvSpPr>
          <p:cNvPr id="27" name="Shape 24"/>
          <p:cNvSpPr/>
          <p:nvPr/>
        </p:nvSpPr>
        <p:spPr>
          <a:xfrm>
            <a:off x="8323883" y="6579617"/>
            <a:ext cx="2286000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28" name="Text 25"/>
          <p:cNvSpPr/>
          <p:nvPr/>
        </p:nvSpPr>
        <p:spPr>
          <a:xfrm>
            <a:off x="8323883" y="5739631"/>
            <a:ext cx="2362200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950" dirty="0"/>
          </a:p>
        </p:txBody>
      </p:sp>
      <p:sp>
        <p:nvSpPr>
          <p:cNvPr id="29" name="Shape 26"/>
          <p:cNvSpPr/>
          <p:nvPr/>
        </p:nvSpPr>
        <p:spPr>
          <a:xfrm>
            <a:off x="10609883" y="6579617"/>
            <a:ext cx="6630367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30" name="Text 27"/>
          <p:cNvSpPr/>
          <p:nvPr/>
        </p:nvSpPr>
        <p:spPr>
          <a:xfrm>
            <a:off x="10609883" y="5739631"/>
            <a:ext cx="6829278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how verification status reaches COO OneDrive and Power BI</a:t>
            </a:r>
            <a:endParaRPr lang="en-US" sz="1950" dirty="0"/>
          </a:p>
        </p:txBody>
      </p:sp>
      <p:sp>
        <p:nvSpPr>
          <p:cNvPr id="31" name="Text 28"/>
          <p:cNvSpPr/>
          <p:nvPr/>
        </p:nvSpPr>
        <p:spPr>
          <a:xfrm>
            <a:off x="8323883" y="6770117"/>
            <a:ext cx="2362200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endParaRPr lang="en-US" sz="1950" dirty="0"/>
          </a:p>
        </p:txBody>
      </p:sp>
      <p:sp>
        <p:nvSpPr>
          <p:cNvPr id="32" name="Text 29"/>
          <p:cNvSpPr/>
          <p:nvPr/>
        </p:nvSpPr>
        <p:spPr>
          <a:xfrm>
            <a:off x="10609883" y="6770117"/>
            <a:ext cx="682927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procedure, access management and support</a:t>
            </a:r>
            <a:endParaRPr lang="en-US" sz="1950" dirty="0"/>
          </a:p>
        </p:txBody>
      </p:sp>
      <p:sp>
        <p:nvSpPr>
          <p:cNvPr id="33" name="Text 30"/>
          <p:cNvSpPr/>
          <p:nvPr/>
        </p:nvSpPr>
        <p:spPr>
          <a:xfrm>
            <a:off x="1047750" y="7656314"/>
            <a:ext cx="724936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ROLE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047750" y="7994452"/>
            <a:ext cx="6788043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the COO technical setup, test the complete data flow and document the process for ongoing operation.</a:t>
            </a:r>
            <a:endParaRPr lang="en-US" sz="1950" dirty="0"/>
          </a:p>
        </p:txBody>
      </p:sp>
      <p:sp>
        <p:nvSpPr>
          <p:cNvPr id="35" name="Shape 32"/>
          <p:cNvSpPr/>
          <p:nvPr/>
        </p:nvSpPr>
        <p:spPr>
          <a:xfrm>
            <a:off x="8323883" y="7418189"/>
            <a:ext cx="8916367" cy="1482923"/>
          </a:xfrm>
          <a:prstGeom prst="rect">
            <a:avLst/>
          </a:prstGeom>
          <a:ln w="28575">
            <a:solidFill>
              <a:srgbClr val="000000"/>
            </a:solidFill>
            <a:prstDash val="dash"/>
          </a:ln>
        </p:spPr>
      </p:sp>
      <p:sp>
        <p:nvSpPr>
          <p:cNvPr id="36" name="Text 33"/>
          <p:cNvSpPr/>
          <p:nvPr/>
        </p:nvSpPr>
        <p:spPr>
          <a:xfrm>
            <a:off x="8619158" y="7656314"/>
            <a:ext cx="915839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POINT · TO BE CONFIRMED</a:t>
            </a:r>
            <a:endParaRPr lang="en-US" sz="1800" dirty="0"/>
          </a:p>
        </p:txBody>
      </p:sp>
      <p:sp>
        <p:nvSpPr>
          <p:cNvPr id="37" name="Text 34"/>
          <p:cNvSpPr/>
          <p:nvPr/>
        </p:nvSpPr>
        <p:spPr>
          <a:xfrm>
            <a:off x="8619158" y="7994452"/>
            <a:ext cx="8575592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Makwa7 mentioned Google Drive and OneDrive as outputs. COO’s final destination and its Power BI connection still need confirmation.</a:t>
            </a:r>
            <a:endParaRPr lang="en-US" sz="1950" dirty="0"/>
          </a:p>
        </p:txBody>
      </p:sp>
      <p:sp>
        <p:nvSpPr>
          <p:cNvPr id="38" name="Shape 35"/>
          <p:cNvSpPr/>
          <p:nvPr/>
        </p:nvSpPr>
        <p:spPr>
          <a:xfrm>
            <a:off x="1047750" y="9282113"/>
            <a:ext cx="16192500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39" name="Text 36"/>
          <p:cNvSpPr/>
          <p:nvPr/>
        </p:nvSpPr>
        <p:spPr>
          <a:xfrm>
            <a:off x="1047750" y="9491663"/>
            <a:ext cx="690033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Development · Technology progress and next steps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6985977" y="9491663"/>
            <a:ext cx="3304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14397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44" kern="0" dirty="0">
                <a:solidFill>
                  <a:srgbClr val="BB0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157288"/>
            <a:ext cx="11439793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041"/>
              </a:lnSpc>
              <a:buNone/>
            </a:pPr>
            <a:r>
              <a:rPr lang="en-US" sz="4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priorities and discussion</a:t>
            </a:r>
            <a:endParaRPr lang="en-US" sz="4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11450" y="762000"/>
            <a:ext cx="1828800" cy="76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3480643"/>
            <a:ext cx="5838527" cy="76200"/>
          </a:xfrm>
          <a:prstGeom prst="rect">
            <a:avLst/>
          </a:prstGeom>
          <a:solidFill>
            <a:srgbClr val="BB0A12"/>
          </a:solidFill>
          <a:ln/>
        </p:spPr>
      </p:sp>
      <p:sp>
        <p:nvSpPr>
          <p:cNvPr id="6" name="Text 3"/>
          <p:cNvSpPr/>
          <p:nvPr/>
        </p:nvSpPr>
        <p:spPr>
          <a:xfrm>
            <a:off x="1047750" y="3823543"/>
            <a:ext cx="642238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FNBD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1047750" y="4518868"/>
            <a:ext cx="6013683" cy="1744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081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recent responses, check duplicates and map locations, then refresh the report after Greg’s review. Website replacement follows final review.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047750" y="6397079"/>
            <a:ext cx="5838527" cy="19050"/>
          </a:xfrm>
          <a:prstGeom prst="rect">
            <a:avLst/>
          </a:prstGeom>
          <a:solidFill>
            <a:srgbClr val="E0DFD9"/>
          </a:solidFill>
          <a:ln/>
        </p:spPr>
      </p:sp>
      <p:sp>
        <p:nvSpPr>
          <p:cNvPr id="9" name="Text 6"/>
          <p:cNvSpPr/>
          <p:nvPr/>
        </p:nvSpPr>
        <p:spPr>
          <a:xfrm>
            <a:off x="1047750" y="6568529"/>
            <a:ext cx="6013683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15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phase: </a:t>
            </a:r>
            <a:pPr algn="l" indent="0" marL="0">
              <a:lnSpc>
                <a:spcPct val="120615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the recurring process.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572077" y="3480643"/>
            <a:ext cx="4491186" cy="76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572077" y="3823543"/>
            <a:ext cx="4940305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Makwa7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7572077" y="4518868"/>
            <a:ext cx="4625922" cy="21715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081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training and test access, confirm VM arrangements, test the verification workflow and confirm the reporting integration.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12749064" y="3480643"/>
            <a:ext cx="4491186" cy="76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12749064" y="3823543"/>
            <a:ext cx="4940305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Grants tracker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12749064" y="4518868"/>
            <a:ext cx="4625922" cy="1744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081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Communications updates, complete internal review and agree on hosting and maintenance.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0" y="8606805"/>
            <a:ext cx="18288000" cy="1680195"/>
          </a:xfrm>
          <a:prstGeom prst="rect">
            <a:avLst/>
          </a:prstGeom>
          <a:solidFill>
            <a:srgbClr val="BB0A12"/>
          </a:solidFill>
          <a:ln/>
        </p:spPr>
      </p:sp>
      <p:sp>
        <p:nvSpPr>
          <p:cNvPr id="17" name="Text 14"/>
          <p:cNvSpPr/>
          <p:nvPr/>
        </p:nvSpPr>
        <p:spPr>
          <a:xfrm>
            <a:off x="1047750" y="9140205"/>
            <a:ext cx="11020038" cy="6514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845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and guidance on next steps</a:t>
            </a:r>
            <a:endParaRPr lang="en-US" sz="4200" dirty="0"/>
          </a:p>
        </p:txBody>
      </p:sp>
      <p:sp>
        <p:nvSpPr>
          <p:cNvPr id="18" name="Text 15"/>
          <p:cNvSpPr/>
          <p:nvPr/>
        </p:nvSpPr>
        <p:spPr>
          <a:xfrm>
            <a:off x="16985977" y="9315896"/>
            <a:ext cx="3304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2026-10-14T01:23:29Z</dcterms:created>
  <dcterms:modified xsi:type="dcterms:W3CDTF">2026-10-14T01:23:29Z</dcterms:modified>
</cp:coreProperties>
</file>