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2" Type="http://schemas.openxmlformats.org/officeDocument/2006/relationships/presProps" Target="presProps.xml" /><ns0:Relationship Id="rId13" Type="http://schemas.openxmlformats.org/officeDocument/2006/relationships/viewProps" Target="viewProps.xml" /><ns0:Relationship Id="rId14" Type="http://schemas.openxmlformats.org/officeDocument/2006/relationships/theme" Target="theme/theme1.xml" /><ns0:Relationship Id="rId15" Type="http://schemas.openxmlformats.org/officeDocument/2006/relationships/tableStyles" Target="tableStyles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image" Target="../media/image-2-1.png" /><ns0:Relationship Id="rId2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image" Target="../media/image-3-1.png" /><ns0:Relationship Id="rId2" Type="http://schemas.openxmlformats.org/officeDocument/2006/relationships/slideLayout" Target="../slideLayouts/slideLayout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image" Target="../media/image-4-1.png" /><ns0:Relationship Id="rId2" Type="http://schemas.openxmlformats.org/officeDocument/2006/relationships/image" Target="../media/image-4-2.png" /><ns0:Relationship Id="rId3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image" Target="../media/image-5-1.png" /><ns0:Relationship Id="rId2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image" Target="../media/image-6-1.png" /><ns0:Relationship Id="rId2" Type="http://schemas.openxmlformats.org/officeDocument/2006/relationships/image" Target="../media/image-6-2.png" /><ns0:Relationship Id="rId3" Type="http://schemas.openxmlformats.org/officeDocument/2006/relationships/slideLayout" Target="../slideLayouts/slideLayout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image" Target="../media/image-7-1.png" /><ns0:Relationship Id="rId2" Type="http://schemas.openxmlformats.org/officeDocument/2006/relationships/slideLayout" Target="../slideLayouts/slideLayout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image" Target="../media/image-8-1.png" /><ns0:Relationship Id="rId2" Type="http://schemas.openxmlformats.org/officeDocument/2006/relationships/slideLayout" Target="../slideLayouts/slideLayout1.xml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image" Target="../media/image-9-1.png" /><ns0:Relationship Id="rId2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B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750" y="857250"/>
            <a:ext cx="27432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656832"/>
            <a:ext cx="8913066" cy="3558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85"/>
              </a:lnSpc>
              <a:buNone/>
            </a:pPr>
            <a:r>
              <a:rPr lang="en-US" sz="6600" b="1" spc="-6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Development: Technology Progress and Next Steps</a:t>
            </a:r>
            <a:endParaRPr lang="en-US" sz="6600" dirty="0"/>
          </a:p>
        </p:txBody>
      </p:sp>
      <p:sp>
        <p:nvSpPr>
          <p:cNvPr id="4" name="Text 1"/>
          <p:cNvSpPr/>
          <p:nvPr/>
        </p:nvSpPr>
        <p:spPr>
          <a:xfrm>
            <a:off x="1047750" y="8710613"/>
            <a:ext cx="951880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Mihir Trivedi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047750" y="9196388"/>
            <a:ext cx="951880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Specialist, Chiefs of Ontario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0844213" y="5326410"/>
            <a:ext cx="658791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WORKSTREAMS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844213" y="5816947"/>
            <a:ext cx="6396038" cy="285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844213" y="6250335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1369501" y="6150322"/>
            <a:ext cx="6046871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Nations Business Directory portal migration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1396663" y="7198072"/>
            <a:ext cx="2447702" cy="414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1549062" y="7274272"/>
            <a:ext cx="22191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FOCUS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844213" y="7955310"/>
            <a:ext cx="6396038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844213" y="8279160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1369501" y="8241060"/>
            <a:ext cx="3838694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Funding Tracker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10844213" y="8873505"/>
            <a:ext cx="6396038" cy="19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844213" y="9197355"/>
            <a:ext cx="3728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369501" y="9159255"/>
            <a:ext cx="620546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4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business verification with Makwa7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71525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7152531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FNBD portal migration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425229"/>
            <a:ext cx="15716250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29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now owns and operates the survey, data files and Power BI report.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1047750" y="3099569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739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is complete. Business and staff survey submissions now reach COO’s SimpleSurvey account. The report uses COO’s OneDrive files; adding recent responses to it remains manual.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4571628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8" name="Text 5"/>
          <p:cNvSpPr/>
          <p:nvPr/>
        </p:nvSpPr>
        <p:spPr>
          <a:xfrm>
            <a:off x="1352550" y="4526384"/>
            <a:ext cx="681495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· TRANSFERRED FROM IFSD TO COO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4978822"/>
            <a:ext cx="2939579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0" name="Text 7"/>
          <p:cNvSpPr/>
          <p:nvPr/>
        </p:nvSpPr>
        <p:spPr>
          <a:xfrm>
            <a:off x="1314450" y="5264572"/>
            <a:ext cx="26467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14450" y="5659859"/>
            <a:ext cx="248237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SimpleSurvey projects transferred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314450" y="6936209"/>
            <a:ext cx="2482379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survey links kept active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77829" y="4978822"/>
            <a:ext cx="2939653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4" name="Text 11"/>
          <p:cNvSpPr/>
          <p:nvPr/>
        </p:nvSpPr>
        <p:spPr>
          <a:xfrm>
            <a:off x="4444529" y="5264572"/>
            <a:ext cx="26468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44529" y="5659859"/>
            <a:ext cx="248245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moved to COO OneDrive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444529" y="6936209"/>
            <a:ext cx="2482453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connections validated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7307982" y="4978822"/>
            <a:ext cx="2939579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8" name="Text 15"/>
          <p:cNvSpPr/>
          <p:nvPr/>
        </p:nvSpPr>
        <p:spPr>
          <a:xfrm>
            <a:off x="7574682" y="5264572"/>
            <a:ext cx="264679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574682" y="5659859"/>
            <a:ext cx="248237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through COO’s Power BI account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0438061" y="4978822"/>
            <a:ext cx="2939653" cy="31432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1" name="Text 18"/>
          <p:cNvSpPr/>
          <p:nvPr/>
        </p:nvSpPr>
        <p:spPr>
          <a:xfrm>
            <a:off x="10704761" y="5264572"/>
            <a:ext cx="264687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704761" y="5659859"/>
            <a:ext cx="2482453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Maps enabled and tested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13911114" y="4571628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215914" y="4526384"/>
            <a:ext cx="16200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911114" y="4978822"/>
            <a:ext cx="3329062" cy="3143250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14177814" y="5264572"/>
            <a:ext cx="307522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4177814" y="5659859"/>
            <a:ext cx="2879532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10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Replacement follows final review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4177814" y="6555209"/>
            <a:ext cx="3075228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WordPress access is ready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0" name="Text 27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63352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6335286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survey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948979"/>
            <a:ext cx="633528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of October 13, 2026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853854"/>
            <a:ext cx="440055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spc="-19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735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047750" y="4244504"/>
            <a:ext cx="4400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Business-submitted responses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505450" y="2853854"/>
            <a:ext cx="61019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53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6496645" y="2853854"/>
            <a:ext cx="4610100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spc="-19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490</a:t>
            </a:r>
            <a:endParaRPr lang="en-US" sz="9900" dirty="0"/>
          </a:p>
        </p:txBody>
      </p:sp>
      <p:sp>
        <p:nvSpPr>
          <p:cNvPr id="10" name="Text 7"/>
          <p:cNvSpPr/>
          <p:nvPr/>
        </p:nvSpPr>
        <p:spPr>
          <a:xfrm>
            <a:off x="6496645" y="4244504"/>
            <a:ext cx="46101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/ approved-user responses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1144845" y="2853854"/>
            <a:ext cx="610195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253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12136041" y="2853854"/>
            <a:ext cx="4336539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842"/>
              </a:lnSpc>
              <a:buNone/>
            </a:pPr>
            <a:r>
              <a:rPr lang="en-US" sz="9900" b="1" spc="-198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1,225</a:t>
            </a:r>
            <a:endParaRPr lang="en-US" sz="9900" dirty="0"/>
          </a:p>
        </p:txBody>
      </p:sp>
      <p:sp>
        <p:nvSpPr>
          <p:cNvPr id="13" name="Text 10"/>
          <p:cNvSpPr/>
          <p:nvPr/>
        </p:nvSpPr>
        <p:spPr>
          <a:xfrm>
            <a:off x="12136041" y="4244504"/>
            <a:ext cx="43365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responses collected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47750" y="4894585"/>
            <a:ext cx="114300" cy="1143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2"/>
          <p:cNvSpPr/>
          <p:nvPr/>
        </p:nvSpPr>
        <p:spPr>
          <a:xfrm>
            <a:off x="1276350" y="4820766"/>
            <a:ext cx="38720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incomplete responses excluded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47750" y="6166545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1,225 RESPONSES ARE NOW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47750" y="6599932"/>
            <a:ext cx="15513844" cy="53340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18" name="Shape 15"/>
          <p:cNvSpPr/>
          <p:nvPr/>
        </p:nvSpPr>
        <p:spPr>
          <a:xfrm>
            <a:off x="16618744" y="6599932"/>
            <a:ext cx="621506" cy="533400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1047750" y="7304782"/>
            <a:ext cx="167803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1,182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2763738" y="7557195"/>
            <a:ext cx="4320086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current Power BI dataset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3346981" y="7304782"/>
            <a:ext cx="7542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87075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4800" dirty="0"/>
          </a:p>
        </p:txBody>
      </p:sp>
      <p:sp>
        <p:nvSpPr>
          <p:cNvPr id="22" name="Text 19"/>
          <p:cNvSpPr/>
          <p:nvPr/>
        </p:nvSpPr>
        <p:spPr>
          <a:xfrm>
            <a:off x="14376536" y="7557195"/>
            <a:ext cx="2863714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processing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3996891" y="7941990"/>
            <a:ext cx="3243359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included in the 1,225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47750" y="8486775"/>
            <a:ext cx="6224364" cy="41433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1200150" y="8562975"/>
            <a:ext cx="61062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COUNTS, NOT UNIQUE BUSINESSES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462614" y="8562975"/>
            <a:ext cx="587075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unique-business count requires duplicate review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8" name="Text 25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63346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6334631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report preview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158529"/>
            <a:ext cx="11844114" cy="6610350"/>
          </a:xfrm>
          <a:prstGeom prst="rect">
            <a:avLst/>
          </a:prstGeom>
          <a:ln w="19050">
            <a:solidFill>
              <a:srgbClr val="E0DFD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158529"/>
            <a:ext cx="11844114" cy="6610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425264" y="2158529"/>
            <a:ext cx="41964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VIEW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3425264" y="2534766"/>
            <a:ext cx="3929435" cy="1424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COO report, filtered to Ontario: </a:t>
            </a:r>
            <a:pPr algn="l" indent="0" marL="0">
              <a:lnSpc>
                <a:spcPct val="121333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submitted records </a:t>
            </a:r>
            <a:pPr algn="l" indent="0" marL="0">
              <a:lnSpc>
                <a:spcPct val="121333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Counts change with filters; duplicate review is pending.</a:t>
            </a:r>
            <a:endParaRPr lang="en-US" sz="1950" dirty="0"/>
          </a:p>
        </p:txBody>
      </p:sp>
      <p:sp>
        <p:nvSpPr>
          <p:cNvPr id="9" name="Shape 5"/>
          <p:cNvSpPr/>
          <p:nvPr/>
        </p:nvSpPr>
        <p:spPr>
          <a:xfrm>
            <a:off x="13425264" y="4188247"/>
            <a:ext cx="3814986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0" name="Text 6"/>
          <p:cNvSpPr/>
          <p:nvPr/>
        </p:nvSpPr>
        <p:spPr>
          <a:xfrm>
            <a:off x="13425264" y="4435897"/>
            <a:ext cx="41964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DATASET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425264" y="4793084"/>
            <a:ext cx="392943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1,225 collected; 1,182 in Power BI (slide 3)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3425264" y="8410575"/>
            <a:ext cx="3247653" cy="528638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13" name="Text 9"/>
          <p:cNvSpPr/>
          <p:nvPr/>
        </p:nvSpPr>
        <p:spPr>
          <a:xfrm>
            <a:off x="13615764" y="8543925"/>
            <a:ext cx="296408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COO Power BI report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5" name="Text 11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14027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1 · FNBD MIGRATION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1402794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submissions and next steps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2425229"/>
            <a:ext cx="157162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47750" y="3049116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7" name="Text 4"/>
          <p:cNvSpPr/>
          <p:nvPr/>
        </p:nvSpPr>
        <p:spPr>
          <a:xfrm>
            <a:off x="1409700" y="2915766"/>
            <a:ext cx="6632067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4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survey submissions reach COO’s SimpleSurvey account.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534400" y="3049116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96350" y="2915766"/>
            <a:ext cx="6632067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46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recent responses to the report is still a manual step.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6952357"/>
            <a:ext cx="51889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· MANUAL, LED BY MIHIR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007283" y="6952357"/>
            <a:ext cx="13562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47750" y="7423845"/>
            <a:ext cx="2613422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1047750" y="7690545"/>
            <a:ext cx="26233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47750" y="8047732"/>
            <a:ext cx="2461022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recent responses</a:t>
            </a:r>
            <a:endParaRPr lang="en-US" sz="1950" dirty="0"/>
          </a:p>
        </p:txBody>
      </p:sp>
      <p:sp>
        <p:nvSpPr>
          <p:cNvPr id="15" name="Shape 12"/>
          <p:cNvSpPr/>
          <p:nvPr/>
        </p:nvSpPr>
        <p:spPr>
          <a:xfrm>
            <a:off x="3661172" y="7423845"/>
            <a:ext cx="2613496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3661172" y="7690545"/>
            <a:ext cx="2623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61172" y="8047732"/>
            <a:ext cx="262338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duplicates</a:t>
            </a:r>
            <a:endParaRPr lang="en-US" sz="1950" dirty="0"/>
          </a:p>
        </p:txBody>
      </p:sp>
      <p:sp>
        <p:nvSpPr>
          <p:cNvPr id="18" name="Shape 15"/>
          <p:cNvSpPr/>
          <p:nvPr/>
        </p:nvSpPr>
        <p:spPr>
          <a:xfrm>
            <a:off x="6274668" y="7423845"/>
            <a:ext cx="2613422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6274668" y="7690545"/>
            <a:ext cx="26233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74668" y="8047732"/>
            <a:ext cx="2623304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locations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8888090" y="7423845"/>
            <a:ext cx="2613496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8888090" y="7690545"/>
            <a:ext cx="2623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888090" y="8047732"/>
            <a:ext cx="2461096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 reviews the update</a:t>
            </a:r>
            <a:endParaRPr lang="en-US" sz="1950" dirty="0"/>
          </a:p>
        </p:txBody>
      </p:sp>
      <p:sp>
        <p:nvSpPr>
          <p:cNvPr id="24" name="Shape 21"/>
          <p:cNvSpPr/>
          <p:nvPr/>
        </p:nvSpPr>
        <p:spPr>
          <a:xfrm>
            <a:off x="11501586" y="7423845"/>
            <a:ext cx="2613496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11501586" y="7690545"/>
            <a:ext cx="2623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1501586" y="8047732"/>
            <a:ext cx="2623386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 the report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14496083" y="7423845"/>
            <a:ext cx="2744093" cy="1439168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14753258" y="7642920"/>
            <a:ext cx="24527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4753258" y="8000107"/>
            <a:ext cx="2305943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66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this recurring process</a:t>
            </a:r>
            <a:endParaRPr lang="en-US" sz="1950" dirty="0"/>
          </a:p>
        </p:txBody>
      </p:sp>
      <p:sp>
        <p:nvSpPr>
          <p:cNvPr id="30" name="Shape 27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1" name="Text 28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8234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2 · GRANTS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8234660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&amp; Funding Tracker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948979"/>
            <a:ext cx="823466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funding opportunities easier to find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2688059"/>
            <a:ext cx="10104611" cy="5290617"/>
          </a:xfrm>
          <a:prstGeom prst="rect">
            <a:avLst/>
          </a:prstGeom>
          <a:ln w="19050">
            <a:solidFill>
              <a:srgbClr val="E0DFD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688059"/>
            <a:ext cx="10104611" cy="52906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47750" y="8150126"/>
            <a:ext cx="1036850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18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to COO: </a:t>
            </a:r>
            <a:pPr algn="l" indent="0" marL="0">
              <a:lnSpc>
                <a:spcPct val="122182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information is easier to browse, with less need to search through a spreadsheet.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11647661" y="3952949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0" name="Shape 6"/>
          <p:cNvSpPr/>
          <p:nvPr/>
        </p:nvSpPr>
        <p:spPr>
          <a:xfrm>
            <a:off x="11647661" y="2897609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11" name="Text 7"/>
          <p:cNvSpPr/>
          <p:nvPr/>
        </p:nvSpPr>
        <p:spPr>
          <a:xfrm>
            <a:off x="11952461" y="2840459"/>
            <a:ext cx="62641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11952461" y="3183359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grants, filter opportunities, view eligibility, deadlines and application links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647661" y="5236890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4" name="Shape 10"/>
          <p:cNvSpPr/>
          <p:nvPr/>
        </p:nvSpPr>
        <p:spPr>
          <a:xfrm>
            <a:off x="11647661" y="4181549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15" name="Text 11"/>
          <p:cNvSpPr/>
          <p:nvPr/>
        </p:nvSpPr>
        <p:spPr>
          <a:xfrm>
            <a:off x="11952461" y="4124399"/>
            <a:ext cx="18316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11952461" y="4467299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on a standalone WordPress page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1647661" y="6520830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8" name="Shape 14"/>
          <p:cNvSpPr/>
          <p:nvPr/>
        </p:nvSpPr>
        <p:spPr>
          <a:xfrm>
            <a:off x="11647661" y="5465490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19" name="Text 15"/>
          <p:cNvSpPr/>
          <p:nvPr/>
        </p:nvSpPr>
        <p:spPr>
          <a:xfrm>
            <a:off x="11952461" y="5408340"/>
            <a:ext cx="16650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Collaborated</a:t>
            </a:r>
            <a:endParaRPr lang="en-US" sz="1950" dirty="0"/>
          </a:p>
        </p:txBody>
      </p:sp>
      <p:sp>
        <p:nvSpPr>
          <p:cNvPr id="20" name="Text 16"/>
          <p:cNvSpPr/>
          <p:nvPr/>
        </p:nvSpPr>
        <p:spPr>
          <a:xfrm>
            <a:off x="11952461" y="5751240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Communications requested font, wording and source-edition updates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1647661" y="7804770"/>
            <a:ext cx="5592589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2" name="Shape 18"/>
          <p:cNvSpPr/>
          <p:nvPr/>
        </p:nvSpPr>
        <p:spPr>
          <a:xfrm>
            <a:off x="11647661" y="6749430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952461" y="6692280"/>
            <a:ext cx="61302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950" dirty="0"/>
          </a:p>
        </p:txBody>
      </p:sp>
      <p:sp>
        <p:nvSpPr>
          <p:cNvPr id="24" name="Text 20"/>
          <p:cNvSpPr/>
          <p:nvPr/>
        </p:nvSpPr>
        <p:spPr>
          <a:xfrm>
            <a:off x="11952461" y="7035180"/>
            <a:ext cx="545556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updates and internal review; agree hosting and maintenance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11647661" y="8429625"/>
            <a:ext cx="3169072" cy="509587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26" name="Text 22"/>
          <p:cNvSpPr/>
          <p:nvPr/>
        </p:nvSpPr>
        <p:spPr>
          <a:xfrm>
            <a:off x="11847686" y="8553450"/>
            <a:ext cx="28640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publicly launched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8" name="Text 24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29" name="Text 25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33787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3 · MAKWA7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3378785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business verification with Makwa7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47750" y="1948979"/>
            <a:ext cx="1337878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process for collecting documents and verifying First Nations businesses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180" y="2777654"/>
            <a:ext cx="9875565" cy="4731841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7" name="Text 4"/>
          <p:cNvSpPr/>
          <p:nvPr/>
        </p:nvSpPr>
        <p:spPr>
          <a:xfrm>
            <a:off x="1047750" y="2949104"/>
            <a:ext cx="311583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339530" y="2949104"/>
            <a:ext cx="98971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· SUPPORTING DOCUMENTS IN M-FILES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215095" y="2949104"/>
            <a:ext cx="311591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47750" y="3363441"/>
            <a:ext cx="3025080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1047750" y="3363441"/>
            <a:ext cx="3025080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257300" y="3611091"/>
            <a:ext cx="28665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57300" y="3968279"/>
            <a:ext cx="268416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registration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1257300" y="4706466"/>
            <a:ext cx="2684160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Completes SimpleSurvey; receives a unique business ID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339530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4339530" y="3363441"/>
            <a:ext cx="3025155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4549080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49080" y="3968279"/>
            <a:ext cx="268423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submission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4549080" y="4706466"/>
            <a:ext cx="268423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upload portal: ID, email and supporting documents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631385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7631385" y="3363441"/>
            <a:ext cx="3025155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7840935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840935" y="3968279"/>
            <a:ext cx="2684237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storage in M-Files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7840935" y="4706466"/>
            <a:ext cx="268423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data centre on First Nation land in Kamloops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923240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0923240" y="3363441"/>
            <a:ext cx="3025155" cy="571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4"/>
          <p:cNvSpPr/>
          <p:nvPr/>
        </p:nvSpPr>
        <p:spPr>
          <a:xfrm>
            <a:off x="11132790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132790" y="3968279"/>
            <a:ext cx="2866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verification</a:t>
            </a:r>
            <a:endParaRPr lang="en-US" sz="2025" dirty="0"/>
          </a:p>
        </p:txBody>
      </p:sp>
      <p:sp>
        <p:nvSpPr>
          <p:cNvPr id="29" name="Text 26"/>
          <p:cNvSpPr/>
          <p:nvPr/>
        </p:nvSpPr>
        <p:spPr>
          <a:xfrm>
            <a:off x="11132790" y="4384997"/>
            <a:ext cx="2684237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Officer reviews the application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14215095" y="3363441"/>
            <a:ext cx="3025155" cy="24974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8"/>
          <p:cNvSpPr/>
          <p:nvPr/>
        </p:nvSpPr>
        <p:spPr>
          <a:xfrm>
            <a:off x="14215095" y="3363441"/>
            <a:ext cx="3025155" cy="5715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2" name="Text 29"/>
          <p:cNvSpPr/>
          <p:nvPr/>
        </p:nvSpPr>
        <p:spPr>
          <a:xfrm>
            <a:off x="14424645" y="3611091"/>
            <a:ext cx="28666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4424645" y="3968279"/>
            <a:ext cx="2866660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871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result</a:t>
            </a:r>
            <a:endParaRPr lang="en-US" sz="2025" dirty="0"/>
          </a:p>
        </p:txBody>
      </p:sp>
      <p:sp>
        <p:nvSpPr>
          <p:cNvPr id="34" name="Text 31"/>
          <p:cNvSpPr/>
          <p:nvPr/>
        </p:nvSpPr>
        <p:spPr>
          <a:xfrm>
            <a:off x="14424645" y="4384997"/>
            <a:ext cx="2684237" cy="9638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81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ID and verification status recorded once approved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5492576" y="6279952"/>
            <a:ext cx="7302773" cy="2857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6" name="Shape 33"/>
          <p:cNvSpPr/>
          <p:nvPr/>
        </p:nvSpPr>
        <p:spPr>
          <a:xfrm>
            <a:off x="5492576" y="5860852"/>
            <a:ext cx="28575" cy="44767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7" name="Shape 34"/>
          <p:cNvSpPr/>
          <p:nvPr/>
        </p:nvSpPr>
        <p:spPr>
          <a:xfrm>
            <a:off x="12766774" y="5860852"/>
            <a:ext cx="28575" cy="44767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8" name="Shape 35"/>
          <p:cNvSpPr/>
          <p:nvPr/>
        </p:nvSpPr>
        <p:spPr>
          <a:xfrm>
            <a:off x="5387801" y="5841802"/>
            <a:ext cx="209550" cy="15240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39" name="Text 36"/>
          <p:cNvSpPr/>
          <p:nvPr/>
        </p:nvSpPr>
        <p:spPr>
          <a:xfrm>
            <a:off x="3859087" y="6413302"/>
            <a:ext cx="10569751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3455"/>
              </a:lnSpc>
              <a:buNone/>
            </a:pPr>
            <a:r>
              <a:rPr lang="en-US" sz="1800" b="1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information is missing: </a:t>
            </a:r>
            <a:pPr algn="ctr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is asked to upload additional documents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4215095" y="6013252"/>
            <a:ext cx="311591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55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downstream storage for directory and reporting use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4215095" y="6999908"/>
            <a:ext cx="3025155" cy="509587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14331643" y="7123733"/>
            <a:ext cx="27920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confirmed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047750" y="8501063"/>
            <a:ext cx="457200" cy="5715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44" name="Text 41"/>
          <p:cNvSpPr/>
          <p:nvPr/>
        </p:nvSpPr>
        <p:spPr>
          <a:xfrm>
            <a:off x="1771650" y="8158163"/>
            <a:ext cx="1593265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04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supports the public business directory. M-Files manages the private documents and verification process behind it.</a:t>
            </a:r>
            <a:endParaRPr lang="en-US" sz="2250" dirty="0"/>
          </a:p>
        </p:txBody>
      </p:sp>
      <p:sp>
        <p:nvSpPr>
          <p:cNvPr id="45" name="Shape 42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46" name="Text 43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47" name="Text 44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233463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 3 · MAKWA7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2334637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Makwa7: current status and next steps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2356172"/>
            <a:ext cx="171450" cy="171450"/>
          </a:xfrm>
          <a:prstGeom prst="ellipse">
            <a:avLst/>
          </a:prstGeom>
          <a:solidFill>
            <a:srgbClr val="BB0A12"/>
          </a:solidFill>
          <a:ln/>
        </p:spPr>
      </p:sp>
      <p:sp>
        <p:nvSpPr>
          <p:cNvPr id="6" name="Text 3"/>
          <p:cNvSpPr/>
          <p:nvPr/>
        </p:nvSpPr>
        <p:spPr>
          <a:xfrm>
            <a:off x="1352550" y="2310929"/>
            <a:ext cx="254938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47750" y="2782416"/>
            <a:ext cx="6590333" cy="3520976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087216"/>
            <a:ext cx="61209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configured the document upload and M-Files verification workflow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371600" y="3946252"/>
            <a:ext cx="61209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introduced the workflow and began onboarding COO staff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71600" y="4805288"/>
            <a:ext cx="6536896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purchased a dedicated verification workstation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371600" y="5330056"/>
            <a:ext cx="612091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is reviewing the VM option for a controlled connection to Makwa7’s environment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8323883" y="2356172"/>
            <a:ext cx="171450" cy="17145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8683" y="2310929"/>
            <a:ext cx="176619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323883" y="2782416"/>
            <a:ext cx="8916367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323883" y="3488159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6" name="Text 13"/>
          <p:cNvSpPr/>
          <p:nvPr/>
        </p:nvSpPr>
        <p:spPr>
          <a:xfrm>
            <a:off x="8323883" y="2982441"/>
            <a:ext cx="2362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0609883" y="3488159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18" name="Text 15"/>
          <p:cNvSpPr/>
          <p:nvPr/>
        </p:nvSpPr>
        <p:spPr>
          <a:xfrm>
            <a:off x="10609883" y="2982441"/>
            <a:ext cx="68292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M-Files training; test access for Sonnet and Mihir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8323883" y="4518645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0" name="Text 17"/>
          <p:cNvSpPr/>
          <p:nvPr/>
        </p:nvSpPr>
        <p:spPr>
          <a:xfrm>
            <a:off x="8323883" y="3678659"/>
            <a:ext cx="2362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10609883" y="4518645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9883" y="3678659"/>
            <a:ext cx="68292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VM scope, cost and responsibilities; secure the COO workstation</a:t>
            </a:r>
            <a:endParaRPr lang="en-US" sz="1950" dirty="0"/>
          </a:p>
        </p:txBody>
      </p:sp>
      <p:sp>
        <p:nvSpPr>
          <p:cNvPr id="23" name="Shape 20"/>
          <p:cNvSpPr/>
          <p:nvPr/>
        </p:nvSpPr>
        <p:spPr>
          <a:xfrm>
            <a:off x="8323883" y="5549131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4" name="Text 21"/>
          <p:cNvSpPr/>
          <p:nvPr/>
        </p:nvSpPr>
        <p:spPr>
          <a:xfrm>
            <a:off x="8323883" y="4709145"/>
            <a:ext cx="2362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950" dirty="0"/>
          </a:p>
        </p:txBody>
      </p:sp>
      <p:sp>
        <p:nvSpPr>
          <p:cNvPr id="25" name="Shape 22"/>
          <p:cNvSpPr/>
          <p:nvPr/>
        </p:nvSpPr>
        <p:spPr>
          <a:xfrm>
            <a:off x="10609883" y="5549131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6" name="Text 23"/>
          <p:cNvSpPr/>
          <p:nvPr/>
        </p:nvSpPr>
        <p:spPr>
          <a:xfrm>
            <a:off x="10609883" y="4709145"/>
            <a:ext cx="68292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 with sample businesses, including additional-document requests</a:t>
            </a:r>
            <a:endParaRPr lang="en-US" sz="1950" dirty="0"/>
          </a:p>
        </p:txBody>
      </p:sp>
      <p:sp>
        <p:nvSpPr>
          <p:cNvPr id="27" name="Shape 24"/>
          <p:cNvSpPr/>
          <p:nvPr/>
        </p:nvSpPr>
        <p:spPr>
          <a:xfrm>
            <a:off x="8323883" y="6579617"/>
            <a:ext cx="22860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28" name="Text 25"/>
          <p:cNvSpPr/>
          <p:nvPr/>
        </p:nvSpPr>
        <p:spPr>
          <a:xfrm>
            <a:off x="8323883" y="5739631"/>
            <a:ext cx="2362200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0609883" y="6579617"/>
            <a:ext cx="663036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0" name="Text 27"/>
          <p:cNvSpPr/>
          <p:nvPr/>
        </p:nvSpPr>
        <p:spPr>
          <a:xfrm>
            <a:off x="10609883" y="5739631"/>
            <a:ext cx="6829278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how verification status reaches COO OneDrive and Power BI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8323883" y="6770117"/>
            <a:ext cx="2362200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10609883" y="6770117"/>
            <a:ext cx="6829278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procedure, access management and support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047750" y="7656314"/>
            <a:ext cx="724936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ROLE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7750" y="7994452"/>
            <a:ext cx="6788043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 the COO technical setup, test the complete data flow and document the process for ongoing operation.</a:t>
            </a:r>
            <a:endParaRPr lang="en-US" sz="1950" dirty="0"/>
          </a:p>
        </p:txBody>
      </p:sp>
      <p:sp>
        <p:nvSpPr>
          <p:cNvPr id="35" name="Shape 32"/>
          <p:cNvSpPr/>
          <p:nvPr/>
        </p:nvSpPr>
        <p:spPr>
          <a:xfrm>
            <a:off x="8323883" y="7418189"/>
            <a:ext cx="8916367" cy="1482923"/>
          </a:xfrm>
          <a:prstGeom prst="rect">
            <a:avLst/>
          </a:prstGeom>
          <a:ln w="28575">
            <a:solidFill>
              <a:srgbClr val="000000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8619158" y="7656314"/>
            <a:ext cx="915839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POINT · TO BE CONFIRMED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619158" y="7994452"/>
            <a:ext cx="8575592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 mentioned Google Drive and OneDrive as outputs. COO’s final destination and its Power BI connection still need confirmation.</a:t>
            </a:r>
            <a:endParaRPr lang="en-US" sz="1950" dirty="0"/>
          </a:p>
        </p:txBody>
      </p:sp>
      <p:sp>
        <p:nvSpPr>
          <p:cNvPr id="38" name="Shape 35"/>
          <p:cNvSpPr/>
          <p:nvPr/>
        </p:nvSpPr>
        <p:spPr>
          <a:xfrm>
            <a:off x="1047750" y="9282113"/>
            <a:ext cx="16192500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39" name="Text 36"/>
          <p:cNvSpPr/>
          <p:nvPr/>
        </p:nvSpPr>
        <p:spPr>
          <a:xfrm>
            <a:off x="1047750" y="9491663"/>
            <a:ext cx="690033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Development · Technology progress and next steps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6985977" y="9491663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762000"/>
            <a:ext cx="1143979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BB0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157288"/>
            <a:ext cx="11439793" cy="69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041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priorities and discussion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11450" y="762000"/>
            <a:ext cx="1828800" cy="76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3480643"/>
            <a:ext cx="5838527" cy="76200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6" name="Text 3"/>
          <p:cNvSpPr/>
          <p:nvPr/>
        </p:nvSpPr>
        <p:spPr>
          <a:xfrm>
            <a:off x="1047750" y="3823543"/>
            <a:ext cx="642238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FNBD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47750" y="4518868"/>
            <a:ext cx="6013683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recent responses, check duplicates and map locations, then refresh the report after Greg’s review. Website replacement follows final review.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6397079"/>
            <a:ext cx="5838527" cy="19050"/>
          </a:xfrm>
          <a:prstGeom prst="rect">
            <a:avLst/>
          </a:prstGeom>
          <a:solidFill>
            <a:srgbClr val="E0DFD9"/>
          </a:solidFill>
          <a:ln/>
        </p:spPr>
      </p:sp>
      <p:sp>
        <p:nvSpPr>
          <p:cNvPr id="9" name="Text 6"/>
          <p:cNvSpPr/>
          <p:nvPr/>
        </p:nvSpPr>
        <p:spPr>
          <a:xfrm>
            <a:off x="1047750" y="6568529"/>
            <a:ext cx="601368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615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phase: </a:t>
            </a:r>
            <a:pPr algn="l" indent="0" marL="0">
              <a:lnSpc>
                <a:spcPct val="120615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recurring process.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572077" y="3480643"/>
            <a:ext cx="4491186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7572077" y="3823543"/>
            <a:ext cx="49403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Makwa7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7572077" y="4518868"/>
            <a:ext cx="4625922" cy="21715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training and test access, confirm VM arrangements, test the verification workflow and confirm the reporting integration.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2749064" y="3480643"/>
            <a:ext cx="4491186" cy="76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12749064" y="3823543"/>
            <a:ext cx="4940305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tracker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12749064" y="4518868"/>
            <a:ext cx="4625922" cy="1744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Communications updates, complete internal review and agree on hosting and maintenance.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0" y="8606805"/>
            <a:ext cx="18288000" cy="1680195"/>
          </a:xfrm>
          <a:prstGeom prst="rect">
            <a:avLst/>
          </a:prstGeom>
          <a:solidFill>
            <a:srgbClr val="BB0A12"/>
          </a:solidFill>
          <a:ln/>
        </p:spPr>
      </p:sp>
      <p:sp>
        <p:nvSpPr>
          <p:cNvPr id="17" name="Text 14"/>
          <p:cNvSpPr/>
          <p:nvPr/>
        </p:nvSpPr>
        <p:spPr>
          <a:xfrm>
            <a:off x="1047750" y="9140205"/>
            <a:ext cx="11020038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45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and guidance on next steps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16985977" y="9315896"/>
            <a:ext cx="3304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2026-10-14T01:23:29Z</dcterms:created>
  <dcterms:modified xsi:type="dcterms:W3CDTF">2026-10-14T01:23:29Z</dcterms:modified>
</cp:coreProperties>
</file>